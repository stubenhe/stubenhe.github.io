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85" r:id="rId5"/>
    <p:sldId id="256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8" r:id="rId18"/>
    <p:sldId id="297" r:id="rId19"/>
    <p:sldId id="299" r:id="rId20"/>
    <p:sldId id="300" r:id="rId21"/>
    <p:sldId id="301" r:id="rId22"/>
    <p:sldId id="268" r:id="rId23"/>
  </p:sldIdLst>
  <p:sldSz cx="12192000" cy="6858000"/>
  <p:notesSz cx="6958013" cy="994727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69" autoAdjust="0"/>
    <p:restoredTop sz="89849" autoAdjust="0"/>
  </p:normalViewPr>
  <p:slideViewPr>
    <p:cSldViewPr showGuides="1">
      <p:cViewPr varScale="1">
        <p:scale>
          <a:sx n="53" d="100"/>
          <a:sy n="53" d="100"/>
        </p:scale>
        <p:origin x="84" y="12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>
        <p:scale>
          <a:sx n="200" d="100"/>
          <a:sy n="200" d="100"/>
        </p:scale>
        <p:origin x="144" y="1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opfzeilenplatzhalter 1">
            <a:extLst>
              <a:ext uri="{FF2B5EF4-FFF2-40B4-BE49-F238E27FC236}">
                <a16:creationId xmlns:a16="http://schemas.microsoft.com/office/drawing/2014/main" id="{7021594F-60AF-5030-27F4-B919E0755C05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gray">
          <a:xfrm>
            <a:off x="184640" y="0"/>
            <a:ext cx="5886653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7" name="Datumsplatzhalter 2">
            <a:extLst>
              <a:ext uri="{FF2B5EF4-FFF2-40B4-BE49-F238E27FC236}">
                <a16:creationId xmlns:a16="http://schemas.microsoft.com/office/drawing/2014/main" id="{45C4C54D-5268-2170-0B7D-70659D206B08}"/>
              </a:ext>
            </a:extLst>
          </p:cNvPr>
          <p:cNvSpPr>
            <a:spLocks noGrp="1"/>
          </p:cNvSpPr>
          <p:nvPr>
            <p:ph type="dt" idx="1"/>
          </p:nvPr>
        </p:nvSpPr>
        <p:spPr bwMode="gray">
          <a:xfrm>
            <a:off x="6071293" y="0"/>
            <a:ext cx="700471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0530C102-DC59-4ADF-BCE9-B21E5AA1F1ED}" type="datetimeFigureOut">
              <a:rPr lang="de-DE" smtClean="0"/>
              <a:pPr/>
              <a:t>08.12.2025</a:t>
            </a:fld>
            <a:endParaRPr lang="de-DE" dirty="0"/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A7568FAF-32D5-F797-5874-241DEBC3A7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gray">
          <a:xfrm>
            <a:off x="184640" y="9448185"/>
            <a:ext cx="5886653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9" name="Foliennummernplatzhalter 6">
            <a:extLst>
              <a:ext uri="{FF2B5EF4-FFF2-40B4-BE49-F238E27FC236}">
                <a16:creationId xmlns:a16="http://schemas.microsoft.com/office/drawing/2014/main" id="{6A11AFD2-EF91-BDDC-349A-DB1934250B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gray">
          <a:xfrm>
            <a:off x="6071293" y="9448185"/>
            <a:ext cx="700471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8D601724-35E3-4B40-B93F-B7E192B7FF5D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061043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704" userDrawn="1">
          <p15:clr>
            <a:srgbClr val="F26B43"/>
          </p15:clr>
        </p15:guide>
        <p15:guide id="2" pos="219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gray">
          <a:xfrm>
            <a:off x="184640" y="0"/>
            <a:ext cx="5886653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gray">
          <a:xfrm>
            <a:off x="6071293" y="0"/>
            <a:ext cx="700471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0530C102-DC59-4ADF-BCE9-B21E5AA1F1ED}" type="datetimeFigureOut">
              <a:rPr lang="de-DE" smtClean="0"/>
              <a:pPr/>
              <a:t>08.12.2025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184640" y="499091"/>
            <a:ext cx="6588732" cy="3707147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txBody>
          <a:bodyPr vert="horz" lIns="96597" tIns="48299" rIns="96597" bIns="48299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gray">
          <a:xfrm>
            <a:off x="192088" y="4398211"/>
            <a:ext cx="6581284" cy="4679883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gray">
          <a:xfrm>
            <a:off x="184640" y="9448185"/>
            <a:ext cx="5886653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gray">
          <a:xfrm>
            <a:off x="6071293" y="9448185"/>
            <a:ext cx="700471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8D601724-35E3-4B40-B93F-B7E192B7FF5D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9857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1200" kern="1200">
        <a:solidFill>
          <a:srgbClr val="000000"/>
        </a:solidFill>
        <a:latin typeface="+mn-lt"/>
        <a:ea typeface="+mn-ea"/>
        <a:cs typeface="+mn-cs"/>
      </a:defRPr>
    </a:lvl1pPr>
    <a:lvl2pPr marL="252000" indent="-25200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buClr>
        <a:schemeClr val="accent1"/>
      </a:buClr>
      <a:buFont typeface="Wingdings" panose="05000000000000000000" pitchFamily="2" charset="2"/>
      <a:buChar char="§"/>
      <a:defRPr sz="1200" kern="1200">
        <a:solidFill>
          <a:srgbClr val="000000"/>
        </a:solidFill>
        <a:latin typeface="+mn-lt"/>
        <a:ea typeface="+mn-ea"/>
        <a:cs typeface="+mn-cs"/>
      </a:defRPr>
    </a:lvl2pPr>
    <a:lvl3pPr marL="252000" indent="-25200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buClr>
        <a:schemeClr val="accent1"/>
      </a:buClr>
      <a:buFont typeface="+mj-lt"/>
      <a:buAutoNum type="arabicPeriod"/>
      <a:defRPr sz="1200" kern="1200">
        <a:solidFill>
          <a:srgbClr val="000000"/>
        </a:solidFill>
        <a:latin typeface="+mn-lt"/>
        <a:ea typeface="+mn-ea"/>
        <a:cs typeface="+mn-cs"/>
      </a:defRPr>
    </a:lvl3pPr>
    <a:lvl4pPr marL="504000" indent="-252000" algn="l" defTabSz="914400" rtl="0" eaLnBrk="1" latinLnBrk="0" hangingPunct="1">
      <a:lnSpc>
        <a:spcPct val="110000"/>
      </a:lnSpc>
      <a:spcBef>
        <a:spcPts val="0"/>
      </a:spcBef>
      <a:spcAft>
        <a:spcPts val="300"/>
      </a:spcAft>
      <a:buClr>
        <a:schemeClr val="accent1"/>
      </a:buClr>
      <a:buFont typeface="Symbol" panose="05050102010706020507" pitchFamily="18" charset="2"/>
      <a:buChar char="-"/>
      <a:defRPr sz="1200" kern="1200">
        <a:solidFill>
          <a:srgbClr val="000000"/>
        </a:solidFill>
        <a:latin typeface="+mn-lt"/>
        <a:ea typeface="+mn-ea"/>
        <a:cs typeface="+mn-cs"/>
      </a:defRPr>
    </a:lvl4pPr>
    <a:lvl5pPr marL="504000" indent="-252000" algn="l" defTabSz="914400" rtl="0" eaLnBrk="1" latinLnBrk="0" hangingPunct="1">
      <a:lnSpc>
        <a:spcPct val="110000"/>
      </a:lnSpc>
      <a:spcBef>
        <a:spcPts val="0"/>
      </a:spcBef>
      <a:spcAft>
        <a:spcPts val="300"/>
      </a:spcAft>
      <a:buClr>
        <a:schemeClr val="accent1"/>
      </a:buClr>
      <a:buFont typeface="+mj-lt"/>
      <a:buAutoNum type="alphaLcPeriod"/>
      <a:defRPr sz="1200" kern="1200">
        <a:solidFill>
          <a:srgbClr val="000000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10000"/>
      </a:lnSpc>
      <a:spcBef>
        <a:spcPts val="1000"/>
      </a:spcBef>
      <a:spcAft>
        <a:spcPts val="600"/>
      </a:spcAft>
      <a:defRPr sz="1600" b="1" kern="1200">
        <a:solidFill>
          <a:schemeClr val="accent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800" kern="1200">
        <a:solidFill>
          <a:srgbClr val="000000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800" kern="1200">
        <a:solidFill>
          <a:srgbClr val="000000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800" kern="1200">
        <a:solidFill>
          <a:srgbClr val="000000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772" userDrawn="1">
          <p15:clr>
            <a:srgbClr val="F26B43"/>
          </p15:clr>
        </p15:guide>
        <p15:guide id="2" pos="121" userDrawn="1">
          <p15:clr>
            <a:srgbClr val="F26B43"/>
          </p15:clr>
        </p15:guide>
        <p15:guide id="3" pos="427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altLang="zh-CN" i="1" dirty="0"/>
              <a:t>Hallo zusammen,</a:t>
            </a:r>
            <a:br>
              <a:rPr lang="de-DE" altLang="zh-CN" i="1" dirty="0"/>
            </a:br>
            <a:r>
              <a:rPr lang="de-DE" altLang="zh-CN" i="1" dirty="0"/>
              <a:t>herzlich willkommen zu meiner Präsentation.</a:t>
            </a:r>
            <a:br>
              <a:rPr lang="de-DE" altLang="zh-CN" i="1" dirty="0"/>
            </a:br>
            <a:r>
              <a:rPr lang="de-DE" altLang="zh-CN" i="1" dirty="0"/>
              <a:t>Mein Name ist Ben He, und heute stelle ich Ihnen meine Bachelorarbeit mit dem Titel</a:t>
            </a:r>
            <a:br>
              <a:rPr lang="de-DE" altLang="zh-CN" dirty="0"/>
            </a:br>
            <a:r>
              <a:rPr lang="de-DE" altLang="zh-CN" b="1" dirty="0"/>
              <a:t>„Design und Implementierung einer Digital-Twin-Infrastruktur für die industrielle Produktion“</a:t>
            </a:r>
            <a:r>
              <a:rPr lang="de-DE" altLang="zh-CN" dirty="0"/>
              <a:t> </a:t>
            </a:r>
            <a:r>
              <a:rPr lang="de-DE" altLang="zh-CN" i="1" dirty="0"/>
              <a:t>vor.</a:t>
            </a:r>
            <a:endParaRPr lang="de-DE" altLang="zh-CN" dirty="0"/>
          </a:p>
          <a:p>
            <a:r>
              <a:rPr lang="de-DE" altLang="zh-CN" dirty="0"/>
              <a:t>Bevor wir die technischen Details anschauen, möchte ich Ihnen kurz die Motivation für dieses Projekt vorstellen.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2179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altLang="zh-CN" dirty="0"/>
              <a:t>intelligente Produktion ist ein wichtiger Motor von Industrie 4.0.</a:t>
            </a:r>
            <a:br>
              <a:rPr lang="de-DE" altLang="zh-CN" dirty="0"/>
            </a:br>
            <a:r>
              <a:rPr lang="zh-CN" altLang="en-US" dirty="0"/>
              <a:t>图 </a:t>
            </a:r>
            <a:r>
              <a:rPr lang="de-DE" altLang="zh-CN" dirty="0"/>
              <a:t>zwei wichtige Säulen.</a:t>
            </a:r>
            <a:br>
              <a:rPr lang="de-DE" altLang="zh-CN" dirty="0"/>
            </a:br>
            <a:r>
              <a:rPr lang="de-DE" altLang="zh-CN" dirty="0"/>
              <a:t> </a:t>
            </a:r>
            <a:r>
              <a:rPr lang="en-US" altLang="zh-CN" dirty="0"/>
              <a:t>Und </a:t>
            </a:r>
            <a:r>
              <a:rPr lang="de-DE" altLang="zh-CN" dirty="0"/>
              <a:t>zusammen das Fundament der Zukunft Fabrik </a:t>
            </a:r>
          </a:p>
          <a:p>
            <a:endParaRPr lang="de-DE" altLang="zh-CN" dirty="0"/>
          </a:p>
          <a:p>
            <a:r>
              <a:rPr lang="zh-CN" altLang="en-US" dirty="0"/>
              <a:t>左图 </a:t>
            </a:r>
            <a:r>
              <a:rPr lang="de-DE" altLang="zh-CN" dirty="0"/>
              <a:t>nutzt man seit vielen Jahren das </a:t>
            </a:r>
            <a:r>
              <a:rPr lang="de-DE" altLang="zh-CN" b="1" dirty="0"/>
              <a:t>URDF</a:t>
            </a:r>
            <a:r>
              <a:rPr lang="de-DE" altLang="zh-CN" dirty="0"/>
              <a:t>.</a:t>
            </a:r>
            <a:br>
              <a:rPr lang="de-DE" altLang="zh-CN" dirty="0"/>
            </a:br>
            <a:r>
              <a:rPr lang="de-DE" altLang="zh-CN" dirty="0"/>
              <a:t>URDF beschreibt die „Skelettstruktur“ eines Roboters.</a:t>
            </a:r>
            <a:br>
              <a:rPr lang="de-DE" altLang="zh-CN" dirty="0"/>
            </a:br>
            <a:r>
              <a:rPr lang="de-DE" altLang="zh-CN" dirty="0"/>
              <a:t>Es enthält Basisdaten wie Links, Joints, Masse und Trägheit.</a:t>
            </a:r>
            <a:br>
              <a:rPr lang="de-DE" altLang="zh-CN" dirty="0"/>
            </a:br>
            <a:r>
              <a:rPr lang="de-DE" altLang="zh-CN" dirty="0"/>
              <a:t>URDF verbindet verschiedene Softwareteile </a:t>
            </a:r>
            <a:r>
              <a:rPr lang="en-US" altLang="zh-CN" dirty="0"/>
              <a:t>von</a:t>
            </a:r>
            <a:r>
              <a:rPr lang="de-DE" altLang="zh-CN" dirty="0"/>
              <a:t> Roboters.</a:t>
            </a:r>
            <a:br>
              <a:rPr lang="de-DE" altLang="zh-CN" dirty="0"/>
            </a:br>
            <a:r>
              <a:rPr lang="de-DE" altLang="zh-CN" dirty="0"/>
              <a:t>Es ist auch der Startpunkt für viele Simulationen.</a:t>
            </a:r>
          </a:p>
          <a:p>
            <a:endParaRPr lang="de-DE" altLang="zh-CN" dirty="0"/>
          </a:p>
          <a:p>
            <a:r>
              <a:rPr lang="zh-CN" altLang="en-US" dirty="0"/>
              <a:t>右图 </a:t>
            </a:r>
            <a:r>
              <a:rPr lang="de-DE" altLang="zh-CN" dirty="0"/>
              <a:t>ist ein digitales </a:t>
            </a:r>
            <a:r>
              <a:rPr lang="en-US" altLang="zh-CN" dirty="0"/>
              <a:t>mopping</a:t>
            </a:r>
            <a:r>
              <a:rPr lang="de-DE" altLang="zh-CN" dirty="0"/>
              <a:t> eines echten Systems.</a:t>
            </a:r>
            <a:br>
              <a:rPr lang="de-DE" altLang="zh-CN" dirty="0"/>
            </a:br>
            <a:r>
              <a:rPr lang="en-US" altLang="zh-CN" dirty="0"/>
              <a:t>Sie </a:t>
            </a:r>
            <a:r>
              <a:rPr lang="de-DE" altLang="zh-CN" dirty="0"/>
              <a:t> </a:t>
            </a:r>
            <a:r>
              <a:rPr lang="en-US" altLang="zh-CN" dirty="0" err="1"/>
              <a:t>geleich</a:t>
            </a:r>
            <a:r>
              <a:rPr lang="en-US" altLang="zh-CN" dirty="0"/>
              <a:t> </a:t>
            </a:r>
            <a:r>
              <a:rPr lang="de-DE" altLang="zh-CN" dirty="0"/>
              <a:t>Eigenschaften, Verhalten Zustand.</a:t>
            </a:r>
          </a:p>
          <a:p>
            <a:br>
              <a:rPr lang="de-DE" altLang="zh-CN" dirty="0"/>
            </a:br>
            <a:r>
              <a:rPr lang="de-DE" altLang="zh-CN" dirty="0"/>
              <a:t>In Industrie 4.0 übernimmt die </a:t>
            </a:r>
            <a:r>
              <a:rPr lang="de-DE" altLang="zh-CN" b="1" dirty="0"/>
              <a:t>AAS</a:t>
            </a:r>
            <a:r>
              <a:rPr lang="de-DE" altLang="zh-CN" dirty="0"/>
              <a:t> diese Rolle.</a:t>
            </a:r>
          </a:p>
          <a:p>
            <a:r>
              <a:rPr lang="de-DE" altLang="zh-CN" dirty="0"/>
              <a:t> </a:t>
            </a:r>
            <a:r>
              <a:rPr lang="en-US" altLang="zh-CN" dirty="0" err="1"/>
              <a:t>vollständiger</a:t>
            </a:r>
            <a:r>
              <a:rPr lang="en-US" altLang="zh-CN" dirty="0"/>
              <a:t> Name</a:t>
            </a:r>
            <a:r>
              <a:rPr lang="zh-CN" altLang="en-US" dirty="0"/>
              <a:t>。。。</a:t>
            </a:r>
            <a:r>
              <a:rPr lang="en-US" altLang="zh-CN" dirty="0"/>
              <a:t>  </a:t>
            </a:r>
            <a:r>
              <a:rPr lang="en-US" altLang="zh-CN" dirty="0" err="1"/>
              <a:t>Abstrakt</a:t>
            </a:r>
            <a:r>
              <a:rPr lang="zh-CN" altLang="en-US" dirty="0"/>
              <a:t>。。</a:t>
            </a:r>
            <a:r>
              <a:rPr lang="de-DE" altLang="zh-CN" dirty="0"/>
              <a:t>Man kann es so verstehen</a:t>
            </a:r>
            <a:br>
              <a:rPr lang="de-DE" altLang="zh-CN" dirty="0"/>
            </a:br>
            <a:r>
              <a:rPr lang="de-DE" altLang="zh-CN" dirty="0"/>
              <a:t>Die AAS ist ein „Bauplan“ für einen digitalen Zwilling </a:t>
            </a:r>
            <a:r>
              <a:rPr lang="en-US" altLang="zh-CN" dirty="0"/>
              <a:t>in ITDA</a:t>
            </a:r>
            <a:r>
              <a:rPr lang="de-DE" altLang="zh-CN" dirty="0"/>
              <a:t>.</a:t>
            </a:r>
          </a:p>
          <a:p>
            <a:r>
              <a:rPr lang="de-DE" altLang="zh-CN" dirty="0"/>
              <a:t>Die AAS schafft mit ihren Submodellen eine gute Struktur.</a:t>
            </a:r>
          </a:p>
          <a:p>
            <a:endParaRPr lang="de-DE" altLang="zh-CN" dirty="0"/>
          </a:p>
          <a:p>
            <a:r>
              <a:rPr lang="en-US" altLang="zh-CN" dirty="0"/>
              <a:t>Fragen </a:t>
            </a:r>
            <a:r>
              <a:rPr lang="zh-CN" altLang="en-US" dirty="0"/>
              <a:t>图</a:t>
            </a:r>
            <a:r>
              <a:rPr lang="en-US" altLang="zh-CN" dirty="0"/>
              <a:t> </a:t>
            </a:r>
          </a:p>
          <a:p>
            <a:r>
              <a:rPr lang="de-DE" altLang="zh-CN" dirty="0"/>
              <a:t>Wir nehmen eine Simulation an  </a:t>
            </a:r>
          </a:p>
          <a:p>
            <a:endParaRPr lang="de-DE" altLang="zh-CN" dirty="0"/>
          </a:p>
          <a:p>
            <a:r>
              <a:rPr lang="de-DE" altLang="zh-CN" dirty="0"/>
              <a:t>  </a:t>
            </a:r>
            <a:r>
              <a:rPr lang="en-US" altLang="zh-CN" sz="1200" b="1" i="0" kern="1200" dirty="0" err="1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rPr>
              <a:t>kompliziert</a:t>
            </a:r>
            <a:r>
              <a:rPr lang="de-DE" altLang="zh-CN" dirty="0"/>
              <a:t>      </a:t>
            </a:r>
            <a:r>
              <a:rPr lang="en-US" altLang="zh-CN" dirty="0"/>
              <a:t>auf </a:t>
            </a:r>
            <a:r>
              <a:rPr lang="en-US" altLang="zh-CN" dirty="0" err="1"/>
              <a:t>bauen</a:t>
            </a:r>
            <a:r>
              <a:rPr lang="en-US" altLang="zh-CN" dirty="0"/>
              <a:t>  </a:t>
            </a:r>
            <a:r>
              <a:rPr lang="en-US" altLang="zh-CN" dirty="0" err="1"/>
              <a:t>einstellen</a:t>
            </a:r>
            <a:r>
              <a:rPr lang="en-US" altLang="zh-CN" dirty="0"/>
              <a:t> </a:t>
            </a:r>
            <a:br>
              <a:rPr lang="de-DE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7817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Hier </a:t>
            </a:r>
            <a:r>
              <a:rPr lang="en-US" altLang="zh-CN" dirty="0" err="1"/>
              <a:t>ist</a:t>
            </a:r>
            <a:r>
              <a:rPr lang="en-US" altLang="zh-CN" dirty="0"/>
              <a:t> </a:t>
            </a:r>
            <a:r>
              <a:rPr lang="de-DE" altLang="zh-CN" dirty="0"/>
              <a:t>die heutigen Simulationsprozesse in der Industrie</a:t>
            </a:r>
          </a:p>
          <a:p>
            <a:r>
              <a:rPr lang="en-US" altLang="zh-CN" dirty="0"/>
              <a:t>Und </a:t>
            </a:r>
            <a:r>
              <a:rPr lang="en-US" altLang="zh-CN" dirty="0" err="1"/>
              <a:t>hier</a:t>
            </a:r>
            <a:r>
              <a:rPr lang="en-US" altLang="zh-CN" dirty="0"/>
              <a:t> </a:t>
            </a:r>
            <a:r>
              <a:rPr lang="en-US" altLang="zh-CN" dirty="0" err="1"/>
              <a:t>arbeitet</a:t>
            </a:r>
            <a:r>
              <a:rPr lang="en-US" altLang="zh-CN" dirty="0"/>
              <a:t> </a:t>
            </a:r>
            <a:r>
              <a:rPr lang="en-US" altLang="zh-CN" dirty="0" err="1"/>
              <a:t>viele</a:t>
            </a:r>
            <a:r>
              <a:rPr lang="en-US" altLang="zh-CN" dirty="0"/>
              <a:t> </a:t>
            </a:r>
            <a:r>
              <a:rPr lang="en-US" altLang="zh-CN" dirty="0" err="1"/>
              <a:t>Irs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Jedes</a:t>
            </a:r>
            <a:r>
              <a:rPr lang="en-US" altLang="zh-CN" dirty="0"/>
              <a:t> hat </a:t>
            </a:r>
            <a:r>
              <a:rPr lang="en-US" altLang="zh-CN" dirty="0" err="1"/>
              <a:t>selbst</a:t>
            </a:r>
            <a:r>
              <a:rPr lang="en-US" altLang="zh-CN" dirty="0"/>
              <a:t> </a:t>
            </a:r>
            <a:r>
              <a:rPr lang="en-US" altLang="zh-CN" dirty="0" err="1"/>
              <a:t>urdf</a:t>
            </a:r>
            <a:r>
              <a:rPr lang="en-US" altLang="zh-CN" dirty="0"/>
              <a:t> </a:t>
            </a:r>
            <a:r>
              <a:rPr lang="zh-CN" altLang="en-US" dirty="0"/>
              <a:t>，</a:t>
            </a:r>
            <a:endParaRPr lang="de-DE" altLang="zh-CN" dirty="0"/>
          </a:p>
          <a:p>
            <a:endParaRPr lang="de-DE" altLang="zh-CN" dirty="0"/>
          </a:p>
          <a:p>
            <a:r>
              <a:rPr lang="de-DE" altLang="zh-CN" dirty="0"/>
              <a:t> noch immer fast </a:t>
            </a:r>
            <a:r>
              <a:rPr lang="de-DE" altLang="zh-CN" b="1" dirty="0"/>
              <a:t>halb </a:t>
            </a:r>
            <a:r>
              <a:rPr lang="en-US" altLang="zh-CN" dirty="0" err="1"/>
              <a:t>händisch</a:t>
            </a:r>
            <a:r>
              <a:rPr lang="de-DE" altLang="zh-CN" dirty="0"/>
              <a:t> sind.</a:t>
            </a:r>
          </a:p>
          <a:p>
            <a:r>
              <a:rPr lang="de-DE" altLang="zh-CN" dirty="0"/>
              <a:t>Die Simulationsumgebung muss </a:t>
            </a:r>
            <a:r>
              <a:rPr lang="en-US" altLang="zh-CN" dirty="0" err="1"/>
              <a:t>handisch</a:t>
            </a:r>
            <a:r>
              <a:rPr lang="de-DE" altLang="zh-CN" dirty="0"/>
              <a:t> eingestellt werden.</a:t>
            </a:r>
          </a:p>
          <a:p>
            <a:r>
              <a:rPr lang="de-DE" altLang="zh-CN" dirty="0"/>
              <a:t>Und sogar die Verbindung zwischen AAS und Simulation passiert oft noch von Hand.</a:t>
            </a:r>
          </a:p>
          <a:p>
            <a:r>
              <a:rPr lang="de-DE" altLang="zh-CN" dirty="0"/>
              <a:t>Diese Schritte sind kompliziert, langsam und machen leicht Fehler.</a:t>
            </a:r>
            <a:br>
              <a:rPr lang="de-DE" altLang="zh-CN" dirty="0"/>
            </a:br>
            <a:r>
              <a:rPr lang="de-DE" altLang="zh-CN" dirty="0"/>
              <a:t>Noch wichtiger: Sie passen nicht zu den Zielen von Industrie 4.0 – also </a:t>
            </a:r>
            <a:r>
              <a:rPr lang="de-DE" altLang="zh-CN" b="1" dirty="0"/>
              <a:t>Automatisierung, Skalierbarkeit und Einheitlichkeit</a:t>
            </a:r>
            <a:r>
              <a:rPr lang="de-DE" altLang="zh-CN" dirty="0"/>
              <a:t>.</a:t>
            </a:r>
          </a:p>
          <a:p>
            <a:r>
              <a:rPr lang="de-DE" altLang="zh-CN" dirty="0"/>
              <a:t>Deshalb möchte diese Arbeit die beiden getrennten Bereiche </a:t>
            </a:r>
            <a:r>
              <a:rPr lang="de-DE" altLang="zh-CN" b="1" dirty="0"/>
              <a:t>URDF</a:t>
            </a:r>
            <a:r>
              <a:rPr lang="de-DE" altLang="zh-CN" dirty="0"/>
              <a:t> und </a:t>
            </a:r>
            <a:r>
              <a:rPr lang="de-DE" altLang="zh-CN" b="1" dirty="0"/>
              <a:t>AAS</a:t>
            </a:r>
            <a:r>
              <a:rPr lang="de-DE" altLang="zh-CN" dirty="0"/>
              <a:t> verbinden.</a:t>
            </a:r>
            <a:br>
              <a:rPr lang="de-DE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0068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altLang="zh-CN" dirty="0"/>
              <a:t>Um dieses Problem zu lösen, habe ich ein vollständig automatisiertes System entwickelt, das aus drei zentralen Komponenten besteht:</a:t>
            </a:r>
          </a:p>
          <a:p>
            <a:r>
              <a:rPr lang="de-DE" altLang="zh-CN" b="1" dirty="0"/>
              <a:t>einem Satz von AAS-Submodellen</a:t>
            </a:r>
            <a:r>
              <a:rPr lang="de-DE" altLang="zh-CN" dirty="0"/>
              <a:t>, der vollständig den IDTA-Standards entspricht,</a:t>
            </a:r>
          </a:p>
          <a:p>
            <a:r>
              <a:rPr lang="de-DE" altLang="zh-CN" b="1" dirty="0"/>
              <a:t>einem URDF-basierten Mapping</a:t>
            </a:r>
            <a:r>
              <a:rPr lang="de-DE" altLang="zh-CN" dirty="0"/>
              <a:t>, das diese Submodelle automatisch generiert,</a:t>
            </a:r>
          </a:p>
          <a:p>
            <a:r>
              <a:rPr lang="de-DE" altLang="zh-CN" b="1" dirty="0"/>
              <a:t>und einem Multi-Roboter-Generator</a:t>
            </a:r>
            <a:r>
              <a:rPr lang="de-DE" altLang="zh-CN" dirty="0"/>
              <a:t>, der auf Basis der AAS-Daten sowie verschiedener Roboter-URDFs komplette Multi-Roboter-Szenarien erstellt.</a:t>
            </a:r>
          </a:p>
          <a:p>
            <a:endParaRPr lang="de-DE" altLang="zh-CN" dirty="0"/>
          </a:p>
          <a:p>
            <a:r>
              <a:rPr lang="de-DE" altLang="zh-CN" dirty="0"/>
              <a:t>Vereinfacht gesagt möchten wir eine </a:t>
            </a:r>
            <a:r>
              <a:rPr lang="de-DE" altLang="zh-CN" b="1" dirty="0"/>
              <a:t>„Hochgeschwindigkeits-Verbindung“</a:t>
            </a:r>
            <a:r>
              <a:rPr lang="de-DE" altLang="zh-CN" dirty="0"/>
              <a:t> schaffen, damit Roboter­modelle direkt in den digitalen Zwilling von Industrie 4.0 kommen. So entsteht ein echter automatischer Ablauf zwischen Simulation, Steuerung und Betrieb.</a:t>
            </a:r>
          </a:p>
          <a:p>
            <a:endParaRPr lang="de-DE" altLang="zh-CN" dirty="0"/>
          </a:p>
          <a:p>
            <a:r>
              <a:rPr lang="de-DE" altLang="zh-CN" dirty="0"/>
              <a:t>Bevor wir jedoch in die Umsetzung einsteigen, möchte ich zunächst einige grundlegende Konzepte vorstellen.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8812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altLang="zh-CN" dirty="0"/>
              <a:t>YAML für Einstellungen,</a:t>
            </a:r>
            <a:br>
              <a:rPr lang="de-DE" altLang="zh-CN" dirty="0"/>
            </a:br>
            <a:r>
              <a:rPr lang="de-DE" altLang="zh-CN" dirty="0"/>
              <a:t>DAE und STL für die Roboter-</a:t>
            </a:r>
            <a:r>
              <a:rPr lang="de-DE" altLang="zh-CN" dirty="0" err="1"/>
              <a:t>Meshes</a:t>
            </a:r>
            <a:r>
              <a:rPr lang="de-DE" altLang="zh-CN" dirty="0"/>
              <a:t>,</a:t>
            </a:r>
            <a:br>
              <a:rPr lang="de-DE" altLang="zh-CN" dirty="0"/>
            </a:br>
            <a:r>
              <a:rPr lang="de-DE" altLang="zh-CN" dirty="0"/>
              <a:t>JSON für strukturierte Daten</a:t>
            </a:r>
            <a:br>
              <a:rPr lang="de-DE" altLang="zh-CN" dirty="0"/>
            </a:br>
            <a:r>
              <a:rPr lang="de-DE" altLang="zh-CN" dirty="0"/>
              <a:t>und </a:t>
            </a:r>
            <a:r>
              <a:rPr lang="de-DE" altLang="zh-CN" dirty="0" err="1"/>
              <a:t>xacro</a:t>
            </a:r>
            <a:r>
              <a:rPr lang="de-DE" altLang="zh-CN" dirty="0"/>
              <a:t>, um daraus ein URDF zu bauen.“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9663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altLang="zh-CN" dirty="0"/>
              <a:t>Es ist wichtig zu sagen, dass das Ziel dieser Arbeit </a:t>
            </a:r>
            <a:r>
              <a:rPr lang="de-DE" altLang="zh-CN" b="1" dirty="0"/>
              <a:t>nicht</a:t>
            </a:r>
            <a:r>
              <a:rPr lang="de-DE" altLang="zh-CN" dirty="0"/>
              <a:t> eine neue Modellierungsmethode ist.</a:t>
            </a:r>
            <a:br>
              <a:rPr lang="de-DE" altLang="zh-CN" dirty="0"/>
            </a:br>
            <a:r>
              <a:rPr lang="de-DE" altLang="zh-CN" dirty="0"/>
              <a:t>Der Ansatz nutzt nur bestehende Modelle – also </a:t>
            </a:r>
            <a:r>
              <a:rPr lang="de-DE" altLang="zh-CN" b="1" dirty="0"/>
              <a:t>URDF</a:t>
            </a:r>
            <a:r>
              <a:rPr lang="de-DE" altLang="zh-CN" dirty="0"/>
              <a:t> und </a:t>
            </a:r>
            <a:r>
              <a:rPr lang="de-DE" altLang="zh-CN" b="1" dirty="0"/>
              <a:t>AAS</a:t>
            </a:r>
            <a:r>
              <a:rPr lang="de-DE" altLang="zh-CN" dirty="0"/>
              <a:t>, wie ich vorher erklärt habe.</a:t>
            </a:r>
          </a:p>
          <a:p>
            <a:r>
              <a:rPr lang="de-DE" altLang="zh-CN" dirty="0"/>
              <a:t>Ich habe auch den Umfang klar begrenzt:</a:t>
            </a:r>
            <a:br>
              <a:rPr lang="de-DE" altLang="zh-CN" dirty="0"/>
            </a:br>
            <a:r>
              <a:rPr lang="de-DE" altLang="zh-CN" dirty="0"/>
              <a:t>Diese Arbeit behandelt </a:t>
            </a:r>
            <a:r>
              <a:rPr lang="de-DE" altLang="zh-CN" b="1" dirty="0"/>
              <a:t>keine</a:t>
            </a:r>
            <a:r>
              <a:rPr lang="de-DE" altLang="zh-CN" dirty="0"/>
              <a:t> Themen wie Robotersteuerung, </a:t>
            </a:r>
            <a:r>
              <a:rPr lang="de-DE" altLang="zh-CN" dirty="0" err="1"/>
              <a:t>Trajektorienplanung</a:t>
            </a:r>
            <a:r>
              <a:rPr lang="de-DE" altLang="zh-CN" dirty="0"/>
              <a:t>, Echtzeitsysteme oder industrielle Kommunikation.</a:t>
            </a:r>
            <a:br>
              <a:rPr lang="de-DE" altLang="zh-CN" dirty="0"/>
            </a:br>
            <a:r>
              <a:rPr lang="de-DE" altLang="zh-CN" dirty="0"/>
              <a:t>Der Fokus liegt nur auf dem </a:t>
            </a:r>
            <a:r>
              <a:rPr lang="de-DE" altLang="zh-CN" b="1" dirty="0"/>
              <a:t>Modell</a:t>
            </a:r>
            <a:r>
              <a:rPr lang="de-DE" altLang="zh-CN" dirty="0"/>
              <a:t>.</a:t>
            </a:r>
          </a:p>
          <a:p>
            <a:r>
              <a:rPr lang="de-DE" altLang="zh-CN" dirty="0"/>
              <a:t>Die Hauptfrage ist deshalb einfach:</a:t>
            </a:r>
            <a:br>
              <a:rPr lang="de-DE" altLang="zh-CN" dirty="0"/>
            </a:br>
            <a:r>
              <a:rPr lang="de-DE" altLang="zh-CN" dirty="0"/>
              <a:t>Wie kann man aus einem URDF </a:t>
            </a:r>
            <a:r>
              <a:rPr lang="de-DE" altLang="zh-CN" b="1" dirty="0"/>
              <a:t>automatisch</a:t>
            </a:r>
            <a:r>
              <a:rPr lang="de-DE" altLang="zh-CN" dirty="0"/>
              <a:t> ein sauberes und gut strukturiertes AAS-Modell machen?</a:t>
            </a:r>
            <a:br>
              <a:rPr lang="de-DE" altLang="zh-CN" dirty="0"/>
            </a:br>
            <a:r>
              <a:rPr lang="de-DE" altLang="zh-CN"/>
              <a:t>Und wie kann man dieses Modell benutzen, um </a:t>
            </a:r>
            <a:r>
              <a:rPr lang="de-DE" altLang="zh-CN" b="1"/>
              <a:t>automatisch</a:t>
            </a:r>
            <a:r>
              <a:rPr lang="de-DE" altLang="zh-CN"/>
              <a:t> Multi-Roboter-Simulationen zu erzeugen?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30612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altLang="zh-CN" dirty="0"/>
              <a:t>Im nächsten Schritt möchte ich Ihnen meine Lösungsstrategie vorstellen.</a:t>
            </a:r>
            <a:br>
              <a:rPr lang="de-DE" altLang="zh-CN" dirty="0"/>
            </a:br>
            <a:r>
              <a:rPr lang="de-DE" altLang="zh-CN" dirty="0"/>
              <a:t>Der gezeigte Ablauf besteht aus </a:t>
            </a:r>
            <a:r>
              <a:rPr lang="de-DE" altLang="zh-CN" b="1" dirty="0"/>
              <a:t>zwei Hauptkomponenten</a:t>
            </a:r>
            <a:r>
              <a:rPr lang="de-DE" altLang="zh-CN" dirty="0"/>
              <a:t>:</a:t>
            </a:r>
          </a:p>
          <a:p>
            <a:endParaRPr lang="de-DE" altLang="zh-CN" dirty="0"/>
          </a:p>
          <a:p>
            <a:r>
              <a:rPr lang="de-DE" altLang="zh-CN" dirty="0"/>
              <a:t>Der </a:t>
            </a:r>
            <a:r>
              <a:rPr lang="de-DE" altLang="zh-CN" b="1" dirty="0"/>
              <a:t>blaue Teil</a:t>
            </a:r>
            <a:r>
              <a:rPr lang="de-DE" altLang="zh-CN" dirty="0"/>
              <a:t> beschreibt den Prozess, mit dem die Informationen aus einem URDF in eine vollständige AAS-Struktur überführt werden – also die </a:t>
            </a:r>
            <a:r>
              <a:rPr lang="de-DE" altLang="zh-CN" b="1" dirty="0"/>
              <a:t>Mapping-Richtung URDF → AAS</a:t>
            </a:r>
            <a:r>
              <a:rPr lang="de-DE" altLang="zh-CN" dirty="0"/>
              <a:t>.</a:t>
            </a:r>
          </a:p>
          <a:p>
            <a:r>
              <a:rPr lang="de-DE" altLang="zh-CN" dirty="0"/>
              <a:t>Der </a:t>
            </a:r>
            <a:r>
              <a:rPr lang="de-DE" altLang="zh-CN" b="1" dirty="0"/>
              <a:t>grüne Teil</a:t>
            </a:r>
            <a:r>
              <a:rPr lang="de-DE" altLang="zh-CN" dirty="0"/>
              <a:t> dagegen dient der automatischen Erzeugung von Robotersimulationsszenarien.</a:t>
            </a:r>
            <a:br>
              <a:rPr lang="de-DE" altLang="zh-CN" dirty="0"/>
            </a:br>
            <a:r>
              <a:rPr lang="de-DE" altLang="zh-CN" dirty="0"/>
              <a:t>Er entspricht funktional der </a:t>
            </a:r>
            <a:r>
              <a:rPr lang="de-DE" altLang="zh-CN" b="1" dirty="0"/>
              <a:t>umgekehrten Richtung</a:t>
            </a:r>
            <a:r>
              <a:rPr lang="de-DE" altLang="zh-CN" dirty="0"/>
              <a:t>, nämlich </a:t>
            </a:r>
            <a:r>
              <a:rPr lang="de-DE" altLang="zh-CN" b="1" dirty="0"/>
              <a:t>AAS → URDF</a:t>
            </a:r>
            <a:r>
              <a:rPr lang="de-DE" altLang="zh-CN" dirty="0"/>
              <a:t>, und bildet damit die Grundlage für Multi-Roboter-Simulationen.</a:t>
            </a:r>
          </a:p>
          <a:p>
            <a:endParaRPr lang="de-DE" altLang="zh-CN" dirty="0"/>
          </a:p>
          <a:p>
            <a:endParaRPr lang="de-DE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7284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altLang="zh-CN" dirty="0"/>
              <a:t>Zunächst nutzen wir die öffentlich verfügbaren Daten der UR-Serie und des igus </a:t>
            </a:r>
            <a:r>
              <a:rPr lang="de-DE" altLang="zh-CN" dirty="0" err="1"/>
              <a:t>ReBeL</a:t>
            </a:r>
            <a:r>
              <a:rPr lang="de-DE" altLang="zh-CN" dirty="0"/>
              <a:t> – darunter </a:t>
            </a:r>
            <a:r>
              <a:rPr lang="de-DE" altLang="zh-CN" dirty="0" err="1"/>
              <a:t>Xacro</a:t>
            </a:r>
            <a:r>
              <a:rPr lang="de-DE" altLang="zh-CN" dirty="0"/>
              <a:t>-Dateien, YAML-Konfigurationen sowie Visualisierungs- und Kollisionsmodelle.</a:t>
            </a:r>
            <a:br>
              <a:rPr lang="de-DE" altLang="zh-CN" dirty="0"/>
            </a:br>
            <a:r>
              <a:rPr lang="de-DE" altLang="zh-CN" dirty="0"/>
              <a:t>Mit Hilfe des ROS 2 </a:t>
            </a:r>
            <a:r>
              <a:rPr lang="de-DE" altLang="zh-CN" dirty="0" err="1"/>
              <a:t>Xacro</a:t>
            </a:r>
            <a:r>
              <a:rPr lang="de-DE" altLang="zh-CN" dirty="0"/>
              <a:t>-Werkzeugs werden diese Dateien expandiert und in ein konsistentes </a:t>
            </a:r>
            <a:r>
              <a:rPr lang="de-DE" altLang="zh-CN" b="1" dirty="0"/>
              <a:t>URDF-Modell</a:t>
            </a:r>
            <a:r>
              <a:rPr lang="de-DE" altLang="zh-CN" dirty="0"/>
              <a:t> überführt.</a:t>
            </a:r>
          </a:p>
          <a:p>
            <a:r>
              <a:rPr lang="de-DE" altLang="zh-CN" dirty="0"/>
              <a:t>Im nächsten Schritt wird das URDF durch den </a:t>
            </a:r>
            <a:r>
              <a:rPr lang="de-DE" altLang="zh-CN" b="1" dirty="0" err="1"/>
              <a:t>Submodel</a:t>
            </a:r>
            <a:r>
              <a:rPr lang="de-DE" altLang="zh-CN" b="1" dirty="0"/>
              <a:t> Generator</a:t>
            </a:r>
            <a:r>
              <a:rPr lang="de-DE" altLang="zh-CN" dirty="0"/>
              <a:t> semantisch analysiert.</a:t>
            </a:r>
            <a:br>
              <a:rPr lang="de-DE" altLang="zh-CN" dirty="0"/>
            </a:br>
            <a:r>
              <a:rPr lang="de-DE" altLang="zh-CN" dirty="0"/>
              <a:t>Dabei entsteht ein strukturiertes Informationsmodell, dessen Inhalte auf </a:t>
            </a:r>
            <a:r>
              <a:rPr lang="de-DE" altLang="zh-CN" b="1" dirty="0"/>
              <a:t>sechs AAS-Submodelle</a:t>
            </a:r>
            <a:r>
              <a:rPr lang="de-DE" altLang="zh-CN" dirty="0"/>
              <a:t> abgebildet werden:</a:t>
            </a:r>
            <a:br>
              <a:rPr lang="de-DE" altLang="zh-CN" dirty="0"/>
            </a:br>
            <a:r>
              <a:rPr lang="de-DE" altLang="zh-CN" dirty="0"/>
              <a:t>Struktur, Kontrolle, Kinematik, Dynamik, Sicherheit und Visualisierung.</a:t>
            </a:r>
          </a:p>
          <a:p>
            <a:r>
              <a:rPr lang="de-DE" altLang="zh-CN" dirty="0"/>
              <a:t>Diese generierten Submodelle werden anschließend gemäß AAS-Spezifikation transformiert und gemeinsam in ein </a:t>
            </a:r>
            <a:r>
              <a:rPr lang="de-DE" altLang="zh-CN" b="1" dirty="0"/>
              <a:t>AASX-Paket</a:t>
            </a:r>
            <a:r>
              <a:rPr lang="de-DE" altLang="zh-CN" dirty="0"/>
              <a:t> integriert.</a:t>
            </a:r>
            <a:br>
              <a:rPr lang="de-DE" altLang="zh-CN" dirty="0"/>
            </a:br>
            <a:r>
              <a:rPr lang="de-DE" altLang="zh-CN" dirty="0"/>
              <a:t>Das Ergebnis ist ein vollständig strukturiertes und industrietaugliches digitales Abbild des Roboters – ein sogenanntes </a:t>
            </a:r>
            <a:r>
              <a:rPr lang="de-DE" altLang="zh-CN" b="1" dirty="0"/>
              <a:t>AASX Unified File</a:t>
            </a:r>
            <a:r>
              <a:rPr lang="de-DE" altLang="zh-CN" dirty="0"/>
              <a:t>.</a:t>
            </a:r>
          </a:p>
          <a:p>
            <a:r>
              <a:rPr lang="de-DE" altLang="zh-CN" dirty="0"/>
              <a:t>Ein solches AASX-Paket kann lokal verwendet oder in einen </a:t>
            </a:r>
            <a:r>
              <a:rPr lang="de-DE" altLang="zh-CN" b="1" dirty="0"/>
              <a:t>AAS Server</a:t>
            </a:r>
            <a:r>
              <a:rPr lang="de-DE" altLang="zh-CN" dirty="0"/>
              <a:t> bzw. ein </a:t>
            </a:r>
            <a:r>
              <a:rPr lang="de-DE" altLang="zh-CN" b="1" dirty="0"/>
              <a:t>AAS Registry</a:t>
            </a:r>
            <a:r>
              <a:rPr lang="de-DE" altLang="zh-CN" dirty="0"/>
              <a:t> im Cloud- oder Fabriknetzwerk hochgeladen werden.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5120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altLang="zh-CN" dirty="0"/>
              <a:t>Am anderen Ende des Prozessablaufs befindet sich die Konfigurationsdatei </a:t>
            </a:r>
            <a:r>
              <a:rPr lang="de-DE" altLang="zh-CN" b="1" dirty="0" err="1"/>
              <a:t>multi_ur.yaml</a:t>
            </a:r>
            <a:r>
              <a:rPr lang="de-DE" altLang="zh-CN" dirty="0"/>
              <a:t>.</a:t>
            </a:r>
            <a:br>
              <a:rPr lang="de-DE" altLang="zh-CN" dirty="0"/>
            </a:br>
            <a:r>
              <a:rPr lang="de-DE" altLang="zh-CN" dirty="0"/>
              <a:t>Darin werden die </a:t>
            </a:r>
            <a:r>
              <a:rPr lang="de-DE" altLang="zh-CN" dirty="0" err="1"/>
              <a:t>Instanzparameter</a:t>
            </a:r>
            <a:r>
              <a:rPr lang="de-DE" altLang="zh-CN" dirty="0"/>
              <a:t> für ein Multi-Roboter-Szenario definiert – zum Beispiel die Anzahl der Roboter, die verwendeten Modelle, ihre räumlichen Posen sowie die </a:t>
            </a:r>
            <a:r>
              <a:rPr lang="de-DE" altLang="zh-CN" dirty="0" err="1"/>
              <a:t>Kommunikationsports</a:t>
            </a:r>
            <a:r>
              <a:rPr lang="de-DE" altLang="zh-CN" dirty="0"/>
              <a:t>.</a:t>
            </a:r>
          </a:p>
          <a:p>
            <a:r>
              <a:rPr lang="de-DE" altLang="zh-CN" dirty="0"/>
              <a:t>Auf Basis dieser Konfiguration erzeugt der </a:t>
            </a:r>
            <a:r>
              <a:rPr lang="de-DE" altLang="zh-CN" b="1" dirty="0"/>
              <a:t>Multi-Robot Generator</a:t>
            </a:r>
            <a:r>
              <a:rPr lang="de-DE" altLang="zh-CN" dirty="0"/>
              <a:t> automatisch drei zentrale Dateien:</a:t>
            </a:r>
          </a:p>
          <a:p>
            <a:r>
              <a:rPr lang="de-DE" altLang="zh-CN" b="1" dirty="0" err="1"/>
              <a:t>multi_ur.xacro</a:t>
            </a:r>
            <a:r>
              <a:rPr lang="de-DE" altLang="zh-CN" dirty="0"/>
              <a:t> – beschreibt alle Roboterinstanzen sowie ihre Positionen und Orientierungen im globalen Koordinatensystem,</a:t>
            </a:r>
          </a:p>
          <a:p>
            <a:r>
              <a:rPr lang="de-DE" altLang="zh-CN" b="1" dirty="0" err="1"/>
              <a:t>spawn.xacro</a:t>
            </a:r>
            <a:r>
              <a:rPr lang="de-DE" altLang="zh-CN" dirty="0"/>
              <a:t> – enthält die strukturelle Vorlage für eine einzelne Roboterinstanz,</a:t>
            </a:r>
          </a:p>
          <a:p>
            <a:r>
              <a:rPr lang="de-DE" altLang="zh-CN" b="1" dirty="0" err="1"/>
              <a:t>joint_limit.yaml</a:t>
            </a:r>
            <a:r>
              <a:rPr lang="de-DE" altLang="zh-CN" dirty="0"/>
              <a:t> – extrahiert Sicherheits- und Steuerungsparameter aus der AAS, etwa Geschwindigkeitsgrenzen oder Gelenkbegrenzungen.</a:t>
            </a:r>
          </a:p>
          <a:p>
            <a:r>
              <a:rPr lang="de-DE" altLang="zh-CN" dirty="0"/>
              <a:t>Diese drei Dateien werden anschließend mit dem ROS 2 </a:t>
            </a:r>
            <a:r>
              <a:rPr lang="de-DE" altLang="zh-CN" dirty="0" err="1"/>
              <a:t>Xacro</a:t>
            </a:r>
            <a:r>
              <a:rPr lang="de-DE" altLang="zh-CN" dirty="0"/>
              <a:t>-Werkzeug expandiert und in eine vollständige </a:t>
            </a:r>
            <a:r>
              <a:rPr lang="de-DE" altLang="zh-CN" b="1" dirty="0"/>
              <a:t>Multi-Roboter-URDF-Beschreibung</a:t>
            </a:r>
            <a:r>
              <a:rPr lang="de-DE" altLang="zh-CN" dirty="0"/>
              <a:t> überführt.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7397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Das </a:t>
            </a:r>
            <a:r>
              <a:rPr lang="en-US" altLang="zh-CN" dirty="0" err="1"/>
              <a:t>erste</a:t>
            </a:r>
            <a:r>
              <a:rPr lang="en-US" altLang="zh-CN" dirty="0"/>
              <a:t> </a:t>
            </a:r>
            <a:r>
              <a:rPr lang="en-US" altLang="zh-CN" dirty="0" err="1"/>
              <a:t>Programm</a:t>
            </a:r>
            <a:r>
              <a:rPr lang="en-US" altLang="zh-CN" dirty="0"/>
              <a:t> </a:t>
            </a:r>
            <a:r>
              <a:rPr lang="en-US" altLang="zh-CN" dirty="0" err="1"/>
              <a:t>besteht</a:t>
            </a:r>
            <a:r>
              <a:rPr lang="en-US" altLang="zh-CN" dirty="0"/>
              <a:t> </a:t>
            </a:r>
            <a:r>
              <a:rPr lang="en-US" altLang="zh-CN" dirty="0" err="1"/>
              <a:t>aus</a:t>
            </a:r>
            <a:r>
              <a:rPr lang="en-US" altLang="zh-CN" dirty="0"/>
              <a:t> </a:t>
            </a:r>
            <a:r>
              <a:rPr lang="en-US" altLang="zh-CN" b="1" dirty="0" err="1"/>
              <a:t>zwei</a:t>
            </a:r>
            <a:r>
              <a:rPr lang="en-US" altLang="zh-CN" b="1" dirty="0"/>
              <a:t> </a:t>
            </a:r>
            <a:r>
              <a:rPr lang="en-US" altLang="zh-CN" b="1" dirty="0" err="1"/>
              <a:t>parallelen</a:t>
            </a:r>
            <a:r>
              <a:rPr lang="en-US" altLang="zh-CN" b="1" dirty="0"/>
              <a:t> </a:t>
            </a:r>
            <a:r>
              <a:rPr lang="en-US" altLang="zh-CN" b="1" dirty="0" err="1"/>
              <a:t>Verarbeitungspfaden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en-US" altLang="zh-CN" dirty="0"/>
              <a:t>dem </a:t>
            </a:r>
            <a:r>
              <a:rPr lang="en-US" altLang="zh-CN" b="1" dirty="0"/>
              <a:t>URDF-</a:t>
            </a:r>
            <a:r>
              <a:rPr lang="en-US" altLang="zh-CN" b="1" dirty="0" err="1"/>
              <a:t>Pfad</a:t>
            </a:r>
            <a:r>
              <a:rPr lang="en-US" altLang="zh-CN" dirty="0"/>
              <a:t> und dem </a:t>
            </a:r>
            <a:r>
              <a:rPr lang="en-US" altLang="zh-CN" b="1" dirty="0"/>
              <a:t>YAML-</a:t>
            </a:r>
            <a:r>
              <a:rPr lang="en-US" altLang="zh-CN" b="1" dirty="0" err="1"/>
              <a:t>Pfad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Der </a:t>
            </a:r>
            <a:r>
              <a:rPr lang="en-US" altLang="zh-CN" b="1" dirty="0"/>
              <a:t>URDF-</a:t>
            </a:r>
            <a:r>
              <a:rPr lang="en-US" altLang="zh-CN" b="1" dirty="0" err="1"/>
              <a:t>Pfad</a:t>
            </a:r>
            <a:r>
              <a:rPr lang="en-US" altLang="zh-CN" dirty="0"/>
              <a:t> </a:t>
            </a:r>
            <a:r>
              <a:rPr lang="en-US" altLang="zh-CN" dirty="0" err="1"/>
              <a:t>extrahiert</a:t>
            </a:r>
            <a:r>
              <a:rPr lang="en-US" altLang="zh-CN" dirty="0"/>
              <a:t> die </a:t>
            </a:r>
            <a:r>
              <a:rPr lang="en-US" altLang="zh-CN" dirty="0" err="1"/>
              <a:t>zentralen</a:t>
            </a:r>
            <a:r>
              <a:rPr lang="en-US" altLang="zh-CN" dirty="0"/>
              <a:t> </a:t>
            </a:r>
            <a:r>
              <a:rPr lang="en-US" altLang="zh-CN" dirty="0" err="1"/>
              <a:t>physikalischen</a:t>
            </a:r>
            <a:r>
              <a:rPr lang="en-US" altLang="zh-CN" dirty="0"/>
              <a:t> </a:t>
            </a:r>
            <a:r>
              <a:rPr lang="en-US" altLang="zh-CN" dirty="0" err="1"/>
              <a:t>Beschreibungen</a:t>
            </a:r>
            <a:r>
              <a:rPr lang="en-US" altLang="zh-CN" dirty="0"/>
              <a:t> des </a:t>
            </a:r>
            <a:r>
              <a:rPr lang="en-US" altLang="zh-CN" dirty="0" err="1"/>
              <a:t>Roboters</a:t>
            </a:r>
            <a:r>
              <a:rPr lang="en-US" altLang="zh-CN" dirty="0"/>
              <a:t> –</a:t>
            </a:r>
            <a:br>
              <a:rPr lang="en-US" altLang="zh-CN" dirty="0"/>
            </a:br>
            <a:r>
              <a:rPr lang="en-US" altLang="zh-CN" dirty="0"/>
              <a:t>also die Link-Joint-</a:t>
            </a:r>
            <a:r>
              <a:rPr lang="en-US" altLang="zh-CN" dirty="0" err="1"/>
              <a:t>Topologie</a:t>
            </a:r>
            <a:r>
              <a:rPr lang="en-US" altLang="zh-CN" dirty="0"/>
              <a:t>, Massen- und </a:t>
            </a:r>
            <a:r>
              <a:rPr lang="en-US" altLang="zh-CN" dirty="0" err="1"/>
              <a:t>Trägheitsparameter</a:t>
            </a:r>
            <a:r>
              <a:rPr lang="en-US" altLang="zh-CN" dirty="0"/>
              <a:t> </a:t>
            </a:r>
            <a:r>
              <a:rPr lang="en-US" altLang="zh-CN" dirty="0" err="1"/>
              <a:t>sowie</a:t>
            </a:r>
            <a:r>
              <a:rPr lang="en-US" altLang="zh-CN" dirty="0"/>
              <a:t> die </a:t>
            </a:r>
            <a:r>
              <a:rPr lang="en-US" altLang="zh-CN" dirty="0" err="1"/>
              <a:t>Pfade</a:t>
            </a:r>
            <a:r>
              <a:rPr lang="en-US" altLang="zh-CN" dirty="0"/>
              <a:t> </a:t>
            </a:r>
            <a:r>
              <a:rPr lang="en-US" altLang="zh-CN" dirty="0" err="1"/>
              <a:t>zu</a:t>
            </a:r>
            <a:r>
              <a:rPr lang="en-US" altLang="zh-CN" dirty="0"/>
              <a:t> den </a:t>
            </a:r>
            <a:r>
              <a:rPr lang="en-US" altLang="zh-CN" dirty="0" err="1"/>
              <a:t>Visualisierungs</a:t>
            </a:r>
            <a:r>
              <a:rPr lang="en-US" altLang="zh-CN" dirty="0"/>
              <a:t>- und </a:t>
            </a:r>
            <a:r>
              <a:rPr lang="en-US" altLang="zh-CN" dirty="0" err="1"/>
              <a:t>Kollisionsmeshes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Damit </a:t>
            </a:r>
            <a:r>
              <a:rPr lang="en-US" altLang="zh-CN" dirty="0" err="1"/>
              <a:t>entsteht</a:t>
            </a:r>
            <a:r>
              <a:rPr lang="en-US" altLang="zh-CN" dirty="0"/>
              <a:t> die </a:t>
            </a:r>
            <a:r>
              <a:rPr lang="en-US" altLang="zh-CN" dirty="0" err="1"/>
              <a:t>grundlegende</a:t>
            </a:r>
            <a:r>
              <a:rPr lang="en-US" altLang="zh-CN" dirty="0"/>
              <a:t> </a:t>
            </a:r>
            <a:r>
              <a:rPr lang="en-US" altLang="zh-CN" b="1" dirty="0" err="1"/>
              <a:t>Strukturinformation</a:t>
            </a:r>
            <a:r>
              <a:rPr lang="en-US" altLang="zh-CN" dirty="0"/>
              <a:t> des </a:t>
            </a:r>
            <a:r>
              <a:rPr lang="en-US" altLang="zh-CN" dirty="0" err="1"/>
              <a:t>Modells</a:t>
            </a:r>
            <a:r>
              <a:rPr lang="en-US" altLang="zh-CN" dirty="0"/>
              <a:t>.</a:t>
            </a:r>
          </a:p>
          <a:p>
            <a:r>
              <a:rPr lang="en-US" altLang="zh-CN" dirty="0" err="1"/>
              <a:t>Im</a:t>
            </a:r>
            <a:r>
              <a:rPr lang="en-US" altLang="zh-CN" dirty="0"/>
              <a:t> </a:t>
            </a:r>
            <a:r>
              <a:rPr lang="en-US" altLang="zh-CN" b="1" dirty="0"/>
              <a:t>YAML-</a:t>
            </a:r>
            <a:r>
              <a:rPr lang="en-US" altLang="zh-CN" b="1" dirty="0" err="1"/>
              <a:t>Pfad</a:t>
            </a:r>
            <a:r>
              <a:rPr lang="en-US" altLang="zh-CN" dirty="0"/>
              <a:t> </a:t>
            </a:r>
            <a:r>
              <a:rPr lang="en-US" altLang="zh-CN" dirty="0" err="1"/>
              <a:t>werden</a:t>
            </a:r>
            <a:r>
              <a:rPr lang="en-US" altLang="zh-CN" dirty="0"/>
              <a:t> </a:t>
            </a:r>
            <a:r>
              <a:rPr lang="en-US" altLang="zh-CN" dirty="0" err="1"/>
              <a:t>ergänzende</a:t>
            </a:r>
            <a:r>
              <a:rPr lang="en-US" altLang="zh-CN" dirty="0"/>
              <a:t> </a:t>
            </a:r>
            <a:r>
              <a:rPr lang="en-US" altLang="zh-CN" dirty="0" err="1"/>
              <a:t>Steuerungs</a:t>
            </a:r>
            <a:r>
              <a:rPr lang="en-US" altLang="zh-CN" dirty="0"/>
              <a:t>- und </a:t>
            </a:r>
            <a:r>
              <a:rPr lang="en-US" altLang="zh-CN" dirty="0" err="1"/>
              <a:t>Konfigurationsdaten</a:t>
            </a:r>
            <a:r>
              <a:rPr lang="en-US" altLang="zh-CN" dirty="0"/>
              <a:t> </a:t>
            </a:r>
            <a:r>
              <a:rPr lang="en-US" altLang="zh-CN" dirty="0" err="1"/>
              <a:t>ausgelesen</a:t>
            </a:r>
            <a:r>
              <a:rPr lang="en-US" altLang="zh-CN" dirty="0"/>
              <a:t>,</a:t>
            </a:r>
            <a:br>
              <a:rPr lang="en-US" altLang="zh-CN" dirty="0"/>
            </a:br>
            <a:r>
              <a:rPr lang="en-US" altLang="zh-CN" dirty="0" err="1"/>
              <a:t>darunter</a:t>
            </a:r>
            <a:r>
              <a:rPr lang="en-US" altLang="zh-CN" dirty="0"/>
              <a:t> </a:t>
            </a:r>
            <a:r>
              <a:rPr lang="en-US" altLang="zh-CN" i="1" dirty="0" err="1"/>
              <a:t>visual_parameters</a:t>
            </a:r>
            <a:r>
              <a:rPr lang="en-US" altLang="zh-CN" dirty="0"/>
              <a:t>, </a:t>
            </a:r>
            <a:r>
              <a:rPr lang="en-US" altLang="zh-CN" i="1" dirty="0" err="1"/>
              <a:t>physical_parameters</a:t>
            </a:r>
            <a:r>
              <a:rPr lang="en-US" altLang="zh-CN" dirty="0"/>
              <a:t>, </a:t>
            </a:r>
            <a:r>
              <a:rPr lang="en-US" altLang="zh-CN" i="1" dirty="0" err="1"/>
              <a:t>joint_limits</a:t>
            </a:r>
            <a:r>
              <a:rPr lang="en-US" altLang="zh-CN" dirty="0"/>
              <a:t> und </a:t>
            </a:r>
            <a:r>
              <a:rPr lang="en-US" altLang="zh-CN" i="1" dirty="0" err="1"/>
              <a:t>default_kinematics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Aus </a:t>
            </a:r>
            <a:r>
              <a:rPr lang="en-US" altLang="zh-CN" dirty="0" err="1"/>
              <a:t>diesen</a:t>
            </a:r>
            <a:r>
              <a:rPr lang="en-US" altLang="zh-CN" dirty="0"/>
              <a:t> </a:t>
            </a:r>
            <a:r>
              <a:rPr lang="en-US" altLang="zh-CN" dirty="0" err="1"/>
              <a:t>beiden</a:t>
            </a:r>
            <a:r>
              <a:rPr lang="en-US" altLang="zh-CN" dirty="0"/>
              <a:t> </a:t>
            </a:r>
            <a:r>
              <a:rPr lang="en-US" altLang="zh-CN" dirty="0" err="1"/>
              <a:t>Datenquellen</a:t>
            </a:r>
            <a:r>
              <a:rPr lang="en-US" altLang="zh-CN" dirty="0"/>
              <a:t> – URDF und YAML – </a:t>
            </a:r>
            <a:r>
              <a:rPr lang="en-US" altLang="zh-CN" dirty="0" err="1"/>
              <a:t>erzeugt</a:t>
            </a:r>
            <a:r>
              <a:rPr lang="en-US" altLang="zh-CN" dirty="0"/>
              <a:t> das System </a:t>
            </a:r>
            <a:r>
              <a:rPr lang="en-US" altLang="zh-CN" dirty="0" err="1"/>
              <a:t>anschließend</a:t>
            </a:r>
            <a:r>
              <a:rPr lang="en-US" altLang="zh-CN" dirty="0"/>
              <a:t> die </a:t>
            </a:r>
            <a:r>
              <a:rPr lang="en-US" altLang="zh-CN" dirty="0" err="1"/>
              <a:t>sechs</a:t>
            </a:r>
            <a:r>
              <a:rPr lang="en-US" altLang="zh-CN" dirty="0"/>
              <a:t> AAS-</a:t>
            </a:r>
            <a:r>
              <a:rPr lang="en-US" altLang="zh-CN" dirty="0" err="1"/>
              <a:t>Submodelle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en-US" altLang="zh-CN" b="1" dirty="0"/>
              <a:t>Structure</a:t>
            </a:r>
            <a:r>
              <a:rPr lang="en-US" altLang="zh-CN" dirty="0"/>
              <a:t>, </a:t>
            </a:r>
            <a:r>
              <a:rPr lang="en-US" altLang="zh-CN" b="1" dirty="0"/>
              <a:t>Control</a:t>
            </a:r>
            <a:r>
              <a:rPr lang="en-US" altLang="zh-CN" dirty="0"/>
              <a:t>, </a:t>
            </a:r>
            <a:r>
              <a:rPr lang="en-US" altLang="zh-CN" b="1" dirty="0"/>
              <a:t>Kinematics</a:t>
            </a:r>
            <a:r>
              <a:rPr lang="en-US" altLang="zh-CN" dirty="0"/>
              <a:t>, </a:t>
            </a:r>
            <a:r>
              <a:rPr lang="en-US" altLang="zh-CN" b="1" dirty="0"/>
              <a:t>Dynamics</a:t>
            </a:r>
            <a:r>
              <a:rPr lang="en-US" altLang="zh-CN" dirty="0"/>
              <a:t>, </a:t>
            </a:r>
            <a:r>
              <a:rPr lang="en-US" altLang="zh-CN" b="1" dirty="0"/>
              <a:t>Safety</a:t>
            </a:r>
            <a:r>
              <a:rPr lang="en-US" altLang="zh-CN" dirty="0"/>
              <a:t> und </a:t>
            </a:r>
            <a:r>
              <a:rPr lang="en-US" altLang="zh-CN" b="1" dirty="0"/>
              <a:t>Visualization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Diese </a:t>
            </a:r>
            <a:r>
              <a:rPr lang="en-US" altLang="zh-CN" dirty="0" err="1"/>
              <a:t>werden</a:t>
            </a:r>
            <a:r>
              <a:rPr lang="en-US" altLang="zh-CN" dirty="0"/>
              <a:t> </a:t>
            </a:r>
            <a:r>
              <a:rPr lang="en-US" altLang="zh-CN" dirty="0" err="1"/>
              <a:t>schließlich</a:t>
            </a:r>
            <a:r>
              <a:rPr lang="en-US" altLang="zh-CN" dirty="0"/>
              <a:t> in </a:t>
            </a:r>
            <a:r>
              <a:rPr lang="en-US" altLang="zh-CN" dirty="0" err="1"/>
              <a:t>einer</a:t>
            </a:r>
            <a:r>
              <a:rPr lang="en-US" altLang="zh-CN" dirty="0"/>
              <a:t> </a:t>
            </a:r>
            <a:r>
              <a:rPr lang="en-US" altLang="zh-CN" dirty="0" err="1"/>
              <a:t>gemeinsamen</a:t>
            </a:r>
            <a:r>
              <a:rPr lang="en-US" altLang="zh-CN" dirty="0"/>
              <a:t> </a:t>
            </a:r>
            <a:r>
              <a:rPr lang="en-US" altLang="zh-CN" dirty="0" err="1"/>
              <a:t>Datei</a:t>
            </a:r>
            <a:r>
              <a:rPr lang="en-US" altLang="zh-CN" dirty="0"/>
              <a:t>, der </a:t>
            </a:r>
            <a:r>
              <a:rPr lang="en-US" altLang="zh-CN" b="1" dirty="0" err="1"/>
              <a:t>environment.json</a:t>
            </a:r>
            <a:r>
              <a:rPr lang="en-US" altLang="zh-CN" dirty="0"/>
              <a:t>, </a:t>
            </a:r>
            <a:r>
              <a:rPr lang="en-US" altLang="zh-CN" dirty="0" err="1"/>
              <a:t>zusammengeführt</a:t>
            </a:r>
            <a:r>
              <a:rPr lang="en-US" altLang="zh-CN" dirty="0"/>
              <a:t>,</a:t>
            </a:r>
            <a:br>
              <a:rPr lang="en-US" altLang="zh-CN" dirty="0"/>
            </a:br>
            <a:r>
              <a:rPr lang="en-US" altLang="zh-CN" dirty="0"/>
              <a:t>die den </a:t>
            </a:r>
            <a:r>
              <a:rPr lang="en-US" altLang="zh-CN" dirty="0" err="1"/>
              <a:t>digitalen</a:t>
            </a:r>
            <a:r>
              <a:rPr lang="en-US" altLang="zh-CN" dirty="0"/>
              <a:t> Zwilling des </a:t>
            </a:r>
            <a:r>
              <a:rPr lang="en-US" altLang="zh-CN" dirty="0" err="1"/>
              <a:t>Roboters</a:t>
            </a:r>
            <a:r>
              <a:rPr lang="en-US" altLang="zh-CN" dirty="0"/>
              <a:t> </a:t>
            </a:r>
            <a:r>
              <a:rPr lang="en-US" altLang="zh-CN" dirty="0" err="1"/>
              <a:t>vollständig</a:t>
            </a:r>
            <a:r>
              <a:rPr lang="en-US" altLang="zh-CN" dirty="0"/>
              <a:t> </a:t>
            </a:r>
            <a:r>
              <a:rPr lang="en-US" altLang="zh-CN" dirty="0" err="1"/>
              <a:t>beschreibt</a:t>
            </a:r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201505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altLang="zh-CN" dirty="0"/>
              <a:t>Das zweite Ablaufdiagramm zeigt die Verarbeitungskette für den </a:t>
            </a:r>
            <a:r>
              <a:rPr lang="de-DE" altLang="zh-CN" b="1" dirty="0"/>
              <a:t>igus </a:t>
            </a:r>
            <a:r>
              <a:rPr lang="de-DE" altLang="zh-CN" b="1" dirty="0" err="1"/>
              <a:t>ReBeL</a:t>
            </a:r>
            <a:r>
              <a:rPr lang="de-DE" altLang="zh-CN" dirty="0"/>
              <a:t>.</a:t>
            </a:r>
            <a:br>
              <a:rPr lang="de-DE" altLang="zh-CN" dirty="0"/>
            </a:br>
            <a:r>
              <a:rPr lang="de-DE" altLang="zh-CN" dirty="0"/>
              <a:t>Die URDF-Struktur des </a:t>
            </a:r>
            <a:r>
              <a:rPr lang="de-DE" altLang="zh-CN" dirty="0" err="1"/>
              <a:t>ReBeL</a:t>
            </a:r>
            <a:r>
              <a:rPr lang="de-DE" altLang="zh-CN" dirty="0"/>
              <a:t> unterscheidet sich deutlich von der der UR-Serie, und viele Informationen sind unvollständig oder anders organisiert. Beispiele dafür sind:</a:t>
            </a:r>
          </a:p>
          <a:p>
            <a:r>
              <a:rPr lang="de-DE" altLang="zh-CN" b="1" dirty="0"/>
              <a:t>Unklare Joint-Limits</a:t>
            </a:r>
            <a:r>
              <a:rPr lang="de-DE" altLang="zh-CN" dirty="0"/>
              <a:t>, da der </a:t>
            </a:r>
            <a:r>
              <a:rPr lang="de-DE" altLang="zh-CN" dirty="0" err="1"/>
              <a:t>ReBeL</a:t>
            </a:r>
            <a:r>
              <a:rPr lang="de-DE" altLang="zh-CN" dirty="0"/>
              <a:t> ein geschwindigkeitsbasiertes Antriebskonzept verwendet,</a:t>
            </a:r>
          </a:p>
          <a:p>
            <a:r>
              <a:rPr lang="de-DE" altLang="zh-CN" dirty="0"/>
              <a:t>teilweise </a:t>
            </a:r>
            <a:r>
              <a:rPr lang="de-DE" altLang="zh-CN" b="1" dirty="0"/>
              <a:t>fehlende </a:t>
            </a:r>
            <a:r>
              <a:rPr lang="de-DE" altLang="zh-CN" b="1" dirty="0" err="1"/>
              <a:t>kinematics.yaml</a:t>
            </a:r>
            <a:r>
              <a:rPr lang="de-DE" altLang="zh-CN" dirty="0"/>
              <a:t>,</a:t>
            </a:r>
          </a:p>
          <a:p>
            <a:r>
              <a:rPr lang="de-DE" altLang="zh-CN" dirty="0"/>
              <a:t>sowie </a:t>
            </a:r>
            <a:r>
              <a:rPr lang="de-DE" altLang="zh-CN" b="1" dirty="0"/>
              <a:t>zwei unterschiedliche Mesh-Pfadstrukturen</a:t>
            </a:r>
            <a:r>
              <a:rPr lang="de-DE" altLang="zh-CN" dirty="0"/>
              <a:t>, die zu Kompatibilitätsproblemen führen.</a:t>
            </a:r>
          </a:p>
          <a:p>
            <a:r>
              <a:rPr lang="de-DE" altLang="zh-CN" dirty="0"/>
              <a:t>Um den </a:t>
            </a:r>
            <a:r>
              <a:rPr lang="de-DE" altLang="zh-CN" dirty="0" err="1"/>
              <a:t>ReBeL</a:t>
            </a:r>
            <a:r>
              <a:rPr lang="de-DE" altLang="zh-CN" dirty="0"/>
              <a:t> dennoch strukturell an die UR-Serie anzupassen, habe ich eine spezielle </a:t>
            </a:r>
            <a:r>
              <a:rPr lang="de-DE" altLang="zh-CN" b="1" dirty="0"/>
              <a:t>Kompatibilitätsschicht</a:t>
            </a:r>
            <a:r>
              <a:rPr lang="de-DE" altLang="zh-CN" dirty="0"/>
              <a:t> entwickelt:</a:t>
            </a:r>
          </a:p>
          <a:p>
            <a:r>
              <a:rPr lang="de-DE" altLang="zh-CN" b="1" dirty="0" err="1"/>
              <a:t>patch_limit_compatibility</a:t>
            </a:r>
            <a:r>
              <a:rPr lang="de-DE" altLang="zh-CN" b="1" dirty="0"/>
              <a:t>()</a:t>
            </a:r>
            <a:r>
              <a:rPr lang="de-DE" altLang="zh-CN" dirty="0"/>
              <a:t> – ergänzt und korrigiert unvollständige Gelenkgrenzen,</a:t>
            </a:r>
          </a:p>
          <a:p>
            <a:r>
              <a:rPr lang="de-DE" altLang="zh-CN" b="1" dirty="0" err="1"/>
              <a:t>generate_kinematics_submodel_fallback</a:t>
            </a:r>
            <a:r>
              <a:rPr lang="de-DE" altLang="zh-CN" b="1" dirty="0"/>
              <a:t>()</a:t>
            </a:r>
            <a:r>
              <a:rPr lang="de-DE" altLang="zh-CN" dirty="0"/>
              <a:t> – erzeugt ein gültiges Kinematik-Submodell, wenn externe Dateien fehlen,</a:t>
            </a:r>
          </a:p>
          <a:p>
            <a:r>
              <a:rPr lang="de-DE" altLang="zh-CN" b="1" dirty="0" err="1"/>
              <a:t>restore_package_uri_recursive</a:t>
            </a:r>
            <a:r>
              <a:rPr lang="de-DE" altLang="zh-CN" b="1" dirty="0"/>
              <a:t>()</a:t>
            </a:r>
            <a:r>
              <a:rPr lang="de-DE" altLang="zh-CN" dirty="0"/>
              <a:t> – vereinheitlicht verschiedene Mesh-Pfadformate und konvertiert sie in ROS-kompatible </a:t>
            </a:r>
            <a:r>
              <a:rPr lang="de-DE" altLang="zh-CN" i="1" dirty="0"/>
              <a:t>package://</a:t>
            </a:r>
            <a:r>
              <a:rPr lang="de-DE" altLang="zh-CN" dirty="0"/>
              <a:t>-URIs.</a:t>
            </a:r>
          </a:p>
          <a:p>
            <a:r>
              <a:rPr lang="de-DE" altLang="zh-CN" dirty="0"/>
              <a:t>Durch diese Erweiterungen kann auch der </a:t>
            </a:r>
            <a:r>
              <a:rPr lang="de-DE" altLang="zh-CN" dirty="0" err="1"/>
              <a:t>ReBeL</a:t>
            </a:r>
            <a:r>
              <a:rPr lang="de-DE" altLang="zh-CN" dirty="0"/>
              <a:t> vollständig und semantisch konsistent in AAS-Submodelle überführt werden –</a:t>
            </a:r>
            <a:br>
              <a:rPr lang="de-DE" altLang="zh-CN" dirty="0"/>
            </a:br>
            <a:r>
              <a:rPr lang="de-DE" altLang="zh-CN" dirty="0"/>
              <a:t>und bleibt damit auf </a:t>
            </a:r>
            <a:r>
              <a:rPr lang="de-DE" altLang="zh-CN" b="1" dirty="0"/>
              <a:t>Strukturebene vollständig kompatibel</a:t>
            </a:r>
            <a:r>
              <a:rPr lang="de-DE" altLang="zh-CN" dirty="0"/>
              <a:t> zur UR-Serie.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8137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altLang="zh-CN" dirty="0"/>
              <a:t>Das dritte Ablaufdiagramm zeigt den </a:t>
            </a:r>
            <a:r>
              <a:rPr lang="de-DE" altLang="zh-CN" b="1" dirty="0"/>
              <a:t>Multi-Robot Generator</a:t>
            </a:r>
            <a:r>
              <a:rPr lang="de-DE" altLang="zh-CN" dirty="0"/>
              <a:t>.</a:t>
            </a:r>
            <a:br>
              <a:rPr lang="de-DE" altLang="zh-CN" dirty="0"/>
            </a:br>
            <a:r>
              <a:rPr lang="de-DE" altLang="zh-CN" dirty="0"/>
              <a:t>Dieses System nutzt die zuvor erzeugte </a:t>
            </a:r>
            <a:r>
              <a:rPr lang="de-DE" altLang="zh-CN" b="1" dirty="0" err="1"/>
              <a:t>environment.json</a:t>
            </a:r>
            <a:r>
              <a:rPr lang="de-DE" altLang="zh-CN" dirty="0"/>
              <a:t> sowie eine </a:t>
            </a:r>
            <a:r>
              <a:rPr lang="de-DE" altLang="zh-CN" b="1" dirty="0" err="1"/>
              <a:t>multi_ur.yaml</a:t>
            </a:r>
            <a:r>
              <a:rPr lang="de-DE" altLang="zh-CN" dirty="0"/>
              <a:t>-Konfigurationsdatei, um ein vollständiges Multi-Roboter-Szenario automatisch zu erzeugen.</a:t>
            </a:r>
          </a:p>
          <a:p>
            <a:r>
              <a:rPr lang="de-DE" altLang="zh-CN" dirty="0"/>
              <a:t>Die Werkzeugkette analysiert die YAML-Konfiguration, platziert die Roboter im globalen Koordinatensystem und generiert daraus die Gesamtstruktur der </a:t>
            </a:r>
            <a:r>
              <a:rPr lang="de-DE" altLang="zh-CN" b="1" dirty="0" err="1"/>
              <a:t>multi_ur.xacro</a:t>
            </a:r>
            <a:r>
              <a:rPr lang="de-DE" altLang="zh-CN" dirty="0"/>
              <a:t>.</a:t>
            </a:r>
            <a:br>
              <a:rPr lang="de-DE" altLang="zh-CN" dirty="0"/>
            </a:br>
            <a:r>
              <a:rPr lang="de-DE" altLang="zh-CN" dirty="0"/>
              <a:t>Darauf aufbauend werden alle erforderlichen </a:t>
            </a:r>
            <a:r>
              <a:rPr lang="de-DE" altLang="zh-CN" i="1" dirty="0"/>
              <a:t>spawn</a:t>
            </a:r>
            <a:r>
              <a:rPr lang="de-DE" altLang="zh-CN" dirty="0"/>
              <a:t>-Makros sowie die zugehörige </a:t>
            </a:r>
            <a:r>
              <a:rPr lang="de-DE" altLang="zh-CN" b="1" dirty="0" err="1"/>
              <a:t>joint_limit.yaml</a:t>
            </a:r>
            <a:r>
              <a:rPr lang="de-DE" altLang="zh-CN" dirty="0"/>
              <a:t> erstellt.</a:t>
            </a:r>
          </a:p>
          <a:p>
            <a:r>
              <a:rPr lang="de-DE" altLang="zh-CN" dirty="0"/>
              <a:t>Das Endergebnis ist ein vollständig expandiertes </a:t>
            </a:r>
            <a:r>
              <a:rPr lang="de-DE" altLang="zh-CN" b="1" dirty="0"/>
              <a:t>Multi-Roboter-URDF</a:t>
            </a:r>
            <a:r>
              <a:rPr lang="de-DE" altLang="zh-CN" dirty="0"/>
              <a:t>, das direkt in ROS 2 geladen werden kann – ohne jegliche manuelle Modellkombination oder nachträgliche Anpassung.</a:t>
            </a:r>
          </a:p>
          <a:p>
            <a:r>
              <a:rPr lang="de-DE" altLang="zh-CN" dirty="0"/>
              <a:t>Zusammenfassend zeigt dieser Implementierungsteil, wie die entwickelte Infrastruktur URDF- und YAML-Informationen semantisch vereinheitlicht, heterogene Robotertypen wie die UR-Serie und den </a:t>
            </a:r>
            <a:r>
              <a:rPr lang="de-DE" altLang="zh-CN" dirty="0" err="1"/>
              <a:t>ReBeL</a:t>
            </a:r>
            <a:r>
              <a:rPr lang="de-DE" altLang="zh-CN" dirty="0"/>
              <a:t> strukturell harmonisiert und schließlich automatisch Multi-Roboter-Szenarien generiert.</a:t>
            </a:r>
            <a:br>
              <a:rPr lang="de-DE" altLang="zh-CN" dirty="0"/>
            </a:br>
            <a:r>
              <a:rPr lang="de-DE" altLang="zh-CN" dirty="0"/>
              <a:t>Die gesamte Python-</a:t>
            </a:r>
            <a:r>
              <a:rPr lang="de-DE" altLang="zh-CN" dirty="0" err="1"/>
              <a:t>Toolchain</a:t>
            </a:r>
            <a:r>
              <a:rPr lang="de-DE" altLang="zh-CN" dirty="0"/>
              <a:t> bildet damit die </a:t>
            </a:r>
            <a:r>
              <a:rPr lang="de-DE" altLang="zh-CN" b="1" dirty="0"/>
              <a:t>zentrale funktionale Grundlage</a:t>
            </a:r>
            <a:r>
              <a:rPr lang="de-DE" altLang="zh-CN" dirty="0"/>
              <a:t> des in dieser Arbeit vorgeschlagenen Digital-Twin-Systems.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79058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Diese </a:t>
            </a:r>
            <a:r>
              <a:rPr lang="en-US" altLang="zh-CN" dirty="0" err="1"/>
              <a:t>Abbildung</a:t>
            </a:r>
            <a:r>
              <a:rPr lang="en-US" altLang="zh-CN" dirty="0"/>
              <a:t> </a:t>
            </a:r>
            <a:r>
              <a:rPr lang="en-US" altLang="zh-CN" dirty="0" err="1"/>
              <a:t>zeigt</a:t>
            </a:r>
            <a:r>
              <a:rPr lang="en-US" altLang="zh-CN" dirty="0"/>
              <a:t> die </a:t>
            </a:r>
            <a:r>
              <a:rPr lang="en-US" altLang="zh-CN" dirty="0" err="1"/>
              <a:t>vollständige</a:t>
            </a:r>
            <a:r>
              <a:rPr lang="en-US" altLang="zh-CN" dirty="0"/>
              <a:t> AAS-</a:t>
            </a:r>
            <a:r>
              <a:rPr lang="en-US" altLang="zh-CN" dirty="0" err="1"/>
              <a:t>Struktur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 err="1"/>
              <a:t>Insgesamt</a:t>
            </a:r>
            <a:r>
              <a:rPr lang="en-US" altLang="zh-CN" dirty="0"/>
              <a:t> </a:t>
            </a:r>
            <a:r>
              <a:rPr lang="en-US" altLang="zh-CN" dirty="0" err="1"/>
              <a:t>umfasst</a:t>
            </a:r>
            <a:r>
              <a:rPr lang="en-US" altLang="zh-CN" dirty="0"/>
              <a:t> </a:t>
            </a:r>
            <a:r>
              <a:rPr lang="en-US" altLang="zh-CN" dirty="0" err="1"/>
              <a:t>sie</a:t>
            </a:r>
            <a:r>
              <a:rPr lang="en-US" altLang="zh-CN" dirty="0"/>
              <a:t> </a:t>
            </a:r>
            <a:r>
              <a:rPr lang="en-US" altLang="zh-CN" b="1" dirty="0"/>
              <a:t>13 </a:t>
            </a:r>
            <a:r>
              <a:rPr lang="en-US" altLang="zh-CN" b="1" dirty="0" err="1"/>
              <a:t>Robotertypen</a:t>
            </a:r>
            <a:r>
              <a:rPr lang="en-US" altLang="zh-CN" dirty="0"/>
              <a:t> – von UR3 bis UR30 </a:t>
            </a:r>
            <a:r>
              <a:rPr lang="en-US" altLang="zh-CN" dirty="0" err="1"/>
              <a:t>sowie</a:t>
            </a:r>
            <a:r>
              <a:rPr lang="en-US" altLang="zh-CN" dirty="0"/>
              <a:t> den </a:t>
            </a:r>
            <a:r>
              <a:rPr lang="en-US" altLang="zh-CN" dirty="0" err="1"/>
              <a:t>igus</a:t>
            </a:r>
            <a:r>
              <a:rPr lang="en-US" altLang="zh-CN" dirty="0"/>
              <a:t> </a:t>
            </a:r>
            <a:r>
              <a:rPr lang="en-US" altLang="zh-CN" dirty="0" err="1"/>
              <a:t>ReBeL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Für </a:t>
            </a:r>
            <a:r>
              <a:rPr lang="en-US" altLang="zh-CN" dirty="0" err="1"/>
              <a:t>jeden</a:t>
            </a:r>
            <a:r>
              <a:rPr lang="en-US" altLang="zh-CN" dirty="0"/>
              <a:t> </a:t>
            </a:r>
            <a:r>
              <a:rPr lang="en-US" altLang="zh-CN" dirty="0" err="1"/>
              <a:t>Robotertyp</a:t>
            </a:r>
            <a:r>
              <a:rPr lang="en-US" altLang="zh-CN" dirty="0"/>
              <a:t> </a:t>
            </a:r>
            <a:r>
              <a:rPr lang="en-US" altLang="zh-CN" dirty="0" err="1"/>
              <a:t>werden</a:t>
            </a:r>
            <a:r>
              <a:rPr lang="en-US" altLang="zh-CN" dirty="0"/>
              <a:t> </a:t>
            </a:r>
            <a:r>
              <a:rPr lang="en-US" altLang="zh-CN" b="1" dirty="0" err="1"/>
              <a:t>sechs</a:t>
            </a:r>
            <a:r>
              <a:rPr lang="en-US" altLang="zh-CN" b="1" dirty="0"/>
              <a:t> AAS-</a:t>
            </a:r>
            <a:r>
              <a:rPr lang="en-US" altLang="zh-CN" b="1" dirty="0" err="1"/>
              <a:t>Submodelle</a:t>
            </a:r>
            <a:r>
              <a:rPr lang="en-US" altLang="zh-CN" dirty="0"/>
              <a:t> </a:t>
            </a:r>
            <a:r>
              <a:rPr lang="en-US" altLang="zh-CN" dirty="0" err="1"/>
              <a:t>erzeugt</a:t>
            </a:r>
            <a:r>
              <a:rPr lang="en-US" altLang="zh-CN" dirty="0"/>
              <a:t>:</a:t>
            </a:r>
          </a:p>
          <a:p>
            <a:r>
              <a:rPr lang="en-US" altLang="zh-CN" b="1" dirty="0"/>
              <a:t>Structure </a:t>
            </a:r>
            <a:r>
              <a:rPr lang="en-US" altLang="zh-CN" b="1" dirty="0" err="1"/>
              <a:t>Submodel</a:t>
            </a:r>
            <a:br>
              <a:rPr lang="en-US" altLang="zh-CN" dirty="0"/>
            </a:br>
            <a:r>
              <a:rPr lang="en-US" altLang="zh-CN" dirty="0" err="1"/>
              <a:t>beschreibt</a:t>
            </a:r>
            <a:r>
              <a:rPr lang="en-US" altLang="zh-CN" dirty="0"/>
              <a:t> die Link-/Joint-</a:t>
            </a:r>
            <a:r>
              <a:rPr lang="en-US" altLang="zh-CN" dirty="0" err="1"/>
              <a:t>Topologie</a:t>
            </a:r>
            <a:r>
              <a:rPr lang="en-US" altLang="zh-CN" dirty="0"/>
              <a:t>, </a:t>
            </a:r>
            <a:r>
              <a:rPr lang="en-US" altLang="zh-CN" dirty="0" err="1"/>
              <a:t>Trägheiten</a:t>
            </a:r>
            <a:r>
              <a:rPr lang="en-US" altLang="zh-CN" dirty="0"/>
              <a:t>, Collision- und Visual-</a:t>
            </a:r>
            <a:r>
              <a:rPr lang="en-US" altLang="zh-CN" dirty="0" err="1"/>
              <a:t>Informationen</a:t>
            </a:r>
            <a:r>
              <a:rPr lang="en-US" altLang="zh-CN" dirty="0"/>
              <a:t>.</a:t>
            </a:r>
          </a:p>
          <a:p>
            <a:r>
              <a:rPr lang="en-US" altLang="zh-CN" b="1" dirty="0"/>
              <a:t>Control </a:t>
            </a:r>
            <a:r>
              <a:rPr lang="en-US" altLang="zh-CN" b="1" dirty="0" err="1"/>
              <a:t>Submodel</a:t>
            </a:r>
            <a:br>
              <a:rPr lang="en-US" altLang="zh-CN" dirty="0"/>
            </a:br>
            <a:r>
              <a:rPr lang="en-US" altLang="zh-CN" dirty="0" err="1"/>
              <a:t>enthält</a:t>
            </a:r>
            <a:r>
              <a:rPr lang="en-US" altLang="zh-CN" dirty="0"/>
              <a:t> </a:t>
            </a:r>
            <a:r>
              <a:rPr lang="en-US" altLang="zh-CN" dirty="0" err="1"/>
              <a:t>steuerungsrelevante</a:t>
            </a:r>
            <a:r>
              <a:rPr lang="en-US" altLang="zh-CN" dirty="0"/>
              <a:t> Parameter </a:t>
            </a:r>
            <a:r>
              <a:rPr lang="en-US" altLang="zh-CN" dirty="0" err="1"/>
              <a:t>wie</a:t>
            </a:r>
            <a:r>
              <a:rPr lang="en-US" altLang="zh-CN" dirty="0"/>
              <a:t> </a:t>
            </a:r>
            <a:r>
              <a:rPr lang="en-US" altLang="zh-CN" dirty="0" err="1"/>
              <a:t>Antriebsarten</a:t>
            </a:r>
            <a:r>
              <a:rPr lang="en-US" altLang="zh-CN" dirty="0"/>
              <a:t> </a:t>
            </a:r>
            <a:r>
              <a:rPr lang="en-US" altLang="zh-CN" dirty="0" err="1"/>
              <a:t>oder</a:t>
            </a:r>
            <a:r>
              <a:rPr lang="en-US" altLang="zh-CN" dirty="0"/>
              <a:t> </a:t>
            </a:r>
            <a:r>
              <a:rPr lang="en-US" altLang="zh-CN" dirty="0" err="1"/>
              <a:t>Schnittstellen</a:t>
            </a:r>
            <a:r>
              <a:rPr lang="en-US" altLang="zh-CN" dirty="0"/>
              <a:t>.</a:t>
            </a:r>
          </a:p>
          <a:p>
            <a:r>
              <a:rPr lang="en-US" altLang="zh-CN" b="1" dirty="0"/>
              <a:t>Kinematics </a:t>
            </a:r>
            <a:r>
              <a:rPr lang="en-US" altLang="zh-CN" b="1" dirty="0" err="1"/>
              <a:t>Submodel</a:t>
            </a:r>
            <a:br>
              <a:rPr lang="en-US" altLang="zh-CN" dirty="0"/>
            </a:br>
            <a:r>
              <a:rPr lang="en-US" altLang="zh-CN" dirty="0" err="1"/>
              <a:t>beschreibt</a:t>
            </a:r>
            <a:r>
              <a:rPr lang="en-US" altLang="zh-CN" dirty="0"/>
              <a:t> die </a:t>
            </a:r>
            <a:r>
              <a:rPr lang="en-US" altLang="zh-CN" dirty="0" err="1"/>
              <a:t>kinematischen</a:t>
            </a:r>
            <a:r>
              <a:rPr lang="en-US" altLang="zh-CN" dirty="0"/>
              <a:t> Ketten </a:t>
            </a:r>
            <a:r>
              <a:rPr lang="en-US" altLang="zh-CN" dirty="0" err="1"/>
              <a:t>aller</a:t>
            </a:r>
            <a:r>
              <a:rPr lang="en-US" altLang="zh-CN" dirty="0"/>
              <a:t> </a:t>
            </a:r>
            <a:r>
              <a:rPr lang="en-US" altLang="zh-CN" dirty="0" err="1"/>
              <a:t>Gelenke</a:t>
            </a:r>
            <a:r>
              <a:rPr lang="en-US" altLang="zh-CN" dirty="0"/>
              <a:t>, also z. B. die </a:t>
            </a:r>
            <a:r>
              <a:rPr lang="en-US" altLang="zh-CN" dirty="0" err="1"/>
              <a:t>Transformationsbeziehungen</a:t>
            </a:r>
            <a:r>
              <a:rPr lang="en-US" altLang="zh-CN" dirty="0"/>
              <a:t> von shoulder, </a:t>
            </a:r>
            <a:r>
              <a:rPr lang="en-US" altLang="zh-CN" dirty="0" err="1"/>
              <a:t>upper_arm</a:t>
            </a:r>
            <a:r>
              <a:rPr lang="en-US" altLang="zh-CN" dirty="0"/>
              <a:t>, wrist_1, wrist_2 </a:t>
            </a:r>
            <a:r>
              <a:rPr lang="en-US" altLang="zh-CN" dirty="0" err="1"/>
              <a:t>usw</a:t>
            </a:r>
            <a:r>
              <a:rPr lang="en-US" altLang="zh-CN" dirty="0"/>
              <a:t>.</a:t>
            </a:r>
          </a:p>
          <a:p>
            <a:r>
              <a:rPr lang="en-US" altLang="zh-CN" b="1" dirty="0"/>
              <a:t>Dynamics </a:t>
            </a:r>
            <a:r>
              <a:rPr lang="en-US" altLang="zh-CN" b="1" dirty="0" err="1"/>
              <a:t>Submodel</a:t>
            </a:r>
            <a:br>
              <a:rPr lang="en-US" altLang="zh-CN" dirty="0"/>
            </a:br>
            <a:r>
              <a:rPr lang="en-US" altLang="zh-CN" dirty="0" err="1"/>
              <a:t>umfasst</a:t>
            </a:r>
            <a:r>
              <a:rPr lang="en-US" altLang="zh-CN" dirty="0"/>
              <a:t> Massen, </a:t>
            </a:r>
            <a:r>
              <a:rPr lang="en-US" altLang="zh-CN" dirty="0" err="1"/>
              <a:t>Trägheitsmatrizen</a:t>
            </a:r>
            <a:r>
              <a:rPr lang="en-US" altLang="zh-CN" dirty="0"/>
              <a:t> und die Lage der </a:t>
            </a:r>
            <a:r>
              <a:rPr lang="en-US" altLang="zh-CN" dirty="0" err="1"/>
              <a:t>Inertialkoordinaten</a:t>
            </a:r>
            <a:r>
              <a:rPr lang="en-US" altLang="zh-CN" dirty="0"/>
              <a:t>.</a:t>
            </a:r>
          </a:p>
          <a:p>
            <a:r>
              <a:rPr lang="en-US" altLang="zh-CN" b="1" dirty="0"/>
              <a:t>Safety </a:t>
            </a:r>
            <a:r>
              <a:rPr lang="en-US" altLang="zh-CN" b="1" dirty="0" err="1"/>
              <a:t>Submodel</a:t>
            </a:r>
            <a:br>
              <a:rPr lang="en-US" altLang="zh-CN" dirty="0"/>
            </a:br>
            <a:r>
              <a:rPr lang="en-US" altLang="zh-CN" dirty="0" err="1"/>
              <a:t>speichert</a:t>
            </a:r>
            <a:r>
              <a:rPr lang="en-US" altLang="zh-CN" dirty="0"/>
              <a:t> </a:t>
            </a:r>
            <a:r>
              <a:rPr lang="en-US" altLang="zh-CN" dirty="0" err="1"/>
              <a:t>sicherheitsrelevante</a:t>
            </a:r>
            <a:r>
              <a:rPr lang="en-US" altLang="zh-CN" dirty="0"/>
              <a:t> </a:t>
            </a:r>
            <a:r>
              <a:rPr lang="en-US" altLang="zh-CN" dirty="0" err="1"/>
              <a:t>Grenzen</a:t>
            </a:r>
            <a:r>
              <a:rPr lang="en-US" altLang="zh-CN" dirty="0"/>
              <a:t>, </a:t>
            </a:r>
            <a:r>
              <a:rPr lang="en-US" altLang="zh-CN" dirty="0" err="1"/>
              <a:t>etwa</a:t>
            </a:r>
            <a:r>
              <a:rPr lang="en-US" altLang="zh-CN" dirty="0"/>
              <a:t> </a:t>
            </a:r>
            <a:r>
              <a:rPr lang="en-US" altLang="zh-CN" dirty="0" err="1"/>
              <a:t>Gelenkpositionen</a:t>
            </a:r>
            <a:r>
              <a:rPr lang="en-US" altLang="zh-CN" dirty="0"/>
              <a:t>, </a:t>
            </a:r>
            <a:r>
              <a:rPr lang="en-US" altLang="zh-CN" dirty="0" err="1"/>
              <a:t>Geschwindigkeitslimits</a:t>
            </a:r>
            <a:r>
              <a:rPr lang="en-US" altLang="zh-CN" dirty="0"/>
              <a:t> </a:t>
            </a:r>
            <a:r>
              <a:rPr lang="en-US" altLang="zh-CN" dirty="0" err="1"/>
              <a:t>oder</a:t>
            </a:r>
            <a:r>
              <a:rPr lang="en-US" altLang="zh-CN" dirty="0"/>
              <a:t> Soft- und Hard-Limits.</a:t>
            </a:r>
          </a:p>
          <a:p>
            <a:r>
              <a:rPr lang="en-US" altLang="zh-CN" b="1" dirty="0"/>
              <a:t>Visualization </a:t>
            </a:r>
            <a:r>
              <a:rPr lang="en-US" altLang="zh-CN" b="1" dirty="0" err="1"/>
              <a:t>Submodel</a:t>
            </a:r>
            <a:br>
              <a:rPr lang="en-US" altLang="zh-CN" dirty="0"/>
            </a:br>
            <a:r>
              <a:rPr lang="en-US" altLang="zh-CN" dirty="0" err="1"/>
              <a:t>definiert</a:t>
            </a:r>
            <a:r>
              <a:rPr lang="en-US" altLang="zh-CN" dirty="0"/>
              <a:t> alle </a:t>
            </a:r>
            <a:r>
              <a:rPr lang="en-US" altLang="zh-CN" dirty="0" err="1"/>
              <a:t>Visualisierungsparameter</a:t>
            </a:r>
            <a:r>
              <a:rPr lang="en-US" altLang="zh-CN" dirty="0"/>
              <a:t> </a:t>
            </a:r>
            <a:r>
              <a:rPr lang="en-US" altLang="zh-CN" dirty="0" err="1"/>
              <a:t>wie</a:t>
            </a:r>
            <a:r>
              <a:rPr lang="en-US" altLang="zh-CN" dirty="0"/>
              <a:t> Mesh-</a:t>
            </a:r>
            <a:r>
              <a:rPr lang="en-US" altLang="zh-CN" dirty="0" err="1"/>
              <a:t>Pfade</a:t>
            </a:r>
            <a:r>
              <a:rPr lang="en-US" altLang="zh-CN" dirty="0"/>
              <a:t>, Farben und </a:t>
            </a:r>
            <a:r>
              <a:rPr lang="en-US" altLang="zh-CN" dirty="0" err="1"/>
              <a:t>Materialien</a:t>
            </a:r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3755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altLang="zh-CN" dirty="0"/>
              <a:t>Hier sehen Sie ein automatisch generiertes Robotersimulationsszenario.</a:t>
            </a:r>
            <a:br>
              <a:rPr lang="de-DE" altLang="zh-CN" dirty="0"/>
            </a:br>
            <a:r>
              <a:rPr lang="de-DE" altLang="zh-CN" dirty="0"/>
              <a:t>Alle Modelle der UR-Serie – einschließlich ihrer Positionen, Orientierungen sowie der zugehörigen Steuerungs- und Sicherheitsparameter – stammen vollständig aus den AAS-Submodellen und wurden vom </a:t>
            </a:r>
            <a:r>
              <a:rPr lang="de-DE" altLang="zh-CN" b="1" dirty="0"/>
              <a:t>Multi-Robot Generator</a:t>
            </a:r>
            <a:r>
              <a:rPr lang="de-DE" altLang="zh-CN" dirty="0"/>
              <a:t> zu einem direkt ladbaren Multi-Roboter-URDF zusammengesetzt.</a:t>
            </a:r>
          </a:p>
          <a:p>
            <a:r>
              <a:rPr lang="de-DE" altLang="zh-CN" dirty="0"/>
              <a:t>Für den igus </a:t>
            </a:r>
            <a:r>
              <a:rPr lang="de-DE" altLang="zh-CN" dirty="0" err="1"/>
              <a:t>ReBeL</a:t>
            </a:r>
            <a:r>
              <a:rPr lang="de-DE" altLang="zh-CN" dirty="0"/>
              <a:t> konnte aufgrund des begrenzten Zeitrahmens lediglich die manuelle Einbindung getestet werden, die Kompatibilität wurde jedoch erfolgreich bestätigt.</a:t>
            </a:r>
          </a:p>
          <a:p>
            <a:r>
              <a:rPr lang="de-DE" altLang="zh-CN" dirty="0"/>
              <a:t>Dieses Ergebnis demonstriert deutlich die geschlossene Prozesskette der entwickelten Werkzeugkette:</a:t>
            </a:r>
            <a:br>
              <a:rPr lang="de-DE" altLang="zh-CN" dirty="0"/>
            </a:br>
            <a:r>
              <a:rPr lang="de-DE" altLang="zh-CN" b="1" dirty="0"/>
              <a:t>von URDF → über AAS → bis hin zum vollständigen Simulationsszenario</a:t>
            </a:r>
            <a:r>
              <a:rPr lang="de-DE" altLang="zh-CN" dirty="0"/>
              <a:t> – vollständig automatisiert.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07613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altLang="zh-CN" dirty="0"/>
              <a:t>Die vorliegende Arbeit stellt eine vollständige Werkzeugkette zur Generierung digitaler Zwillinge vor.</a:t>
            </a:r>
            <a:br>
              <a:rPr lang="de-DE" altLang="zh-CN" dirty="0"/>
            </a:br>
            <a:r>
              <a:rPr lang="de-DE" altLang="zh-CN" dirty="0"/>
              <a:t>Damit gelingt es erstmals, klassische URDF-Modelle, die überwiegend strukturelle Informationen enthalten, automatisiert in </a:t>
            </a:r>
            <a:r>
              <a:rPr lang="de-DE" altLang="zh-CN" b="1" dirty="0"/>
              <a:t>AAS-konforme, semantisch angereicherte digitale Assets</a:t>
            </a:r>
            <a:r>
              <a:rPr lang="de-DE" altLang="zh-CN" dirty="0"/>
              <a:t> zu überführen.</a:t>
            </a:r>
            <a:br>
              <a:rPr lang="de-DE" altLang="zh-CN" dirty="0"/>
            </a:br>
            <a:r>
              <a:rPr lang="de-DE" altLang="zh-CN" dirty="0"/>
              <a:t>Durch die einheitliche Erzeugung und Organisation der sechs AAS-Submodelle – Struktur, Kinematik, Dynamik, Sicherheit, Kontrolle und Visualisierung – wird nicht nur das semantische Defizit des URDF geschlossen, sondern auch eine skalierbare Grundlage für die automatische Erstellung von Multi-Roboter-Szenarien geschaffen.</a:t>
            </a:r>
          </a:p>
          <a:p>
            <a:r>
              <a:rPr lang="de-DE" altLang="zh-CN" dirty="0"/>
              <a:t>Im Vergleich zu gängigen industriellen Lösungen wie </a:t>
            </a:r>
            <a:r>
              <a:rPr lang="de-DE" altLang="zh-CN" b="1" dirty="0"/>
              <a:t>OPC UA</a:t>
            </a:r>
            <a:r>
              <a:rPr lang="de-DE" altLang="zh-CN" dirty="0"/>
              <a:t> bietet der vorgestellte Ansatz einen entscheidenden Vorteil:</a:t>
            </a:r>
            <a:br>
              <a:rPr lang="de-DE" altLang="zh-CN" dirty="0"/>
            </a:br>
            <a:r>
              <a:rPr lang="de-DE" altLang="zh-CN" dirty="0"/>
              <a:t>Während OPC UA primär auf die effiziente Verarbeitung von Laufzeitdaten ausgerichtet ist – etwa Gelenkzustände, Sensordaten oder Steuerbefehle – fehlt dort die Fähigkeit, die strukturellen, kinematischen und dynamischen Eigenschaften eines Roboters formal zu beschreiben.</a:t>
            </a:r>
            <a:br>
              <a:rPr lang="de-DE" altLang="zh-CN" dirty="0"/>
            </a:br>
            <a:r>
              <a:rPr lang="de-DE" altLang="zh-CN" dirty="0"/>
              <a:t>OPC UA eignet sich daher eher als </a:t>
            </a:r>
            <a:r>
              <a:rPr lang="de-DE" altLang="zh-CN" b="1" dirty="0"/>
              <a:t>ergänzende Laufzeitebene</a:t>
            </a:r>
            <a:r>
              <a:rPr lang="de-DE" altLang="zh-CN" dirty="0"/>
              <a:t>, nicht jedoch als Ersatz für das hier entwickelte semantische Modell.</a:t>
            </a:r>
          </a:p>
          <a:p>
            <a:r>
              <a:rPr lang="de-DE" altLang="zh-CN" dirty="0"/>
              <a:t>Die statische, semantische Modellierung durch die AAS schafft eine </a:t>
            </a:r>
            <a:r>
              <a:rPr lang="de-DE" altLang="zh-CN" b="1" dirty="0"/>
              <a:t>tragfähige Grundlage</a:t>
            </a:r>
            <a:r>
              <a:rPr lang="de-DE" altLang="zh-CN" dirty="0"/>
              <a:t> für die spätere Zuordnung von OPC-UA-Laufzeitdaten.</a:t>
            </a:r>
            <a:br>
              <a:rPr lang="de-DE" altLang="zh-CN" dirty="0"/>
            </a:br>
            <a:r>
              <a:rPr lang="de-DE" altLang="zh-CN" dirty="0"/>
              <a:t>Damit wird eine echte Verschmelzung von </a:t>
            </a:r>
            <a:r>
              <a:rPr lang="de-DE" altLang="zh-CN" b="1" dirty="0"/>
              <a:t>Engineering-Daten und Betriebsdaten</a:t>
            </a:r>
            <a:r>
              <a:rPr lang="de-DE" altLang="zh-CN" dirty="0"/>
              <a:t> möglich – ein wesentlicher Schritt hin zu vollwertigen digitalen Zwillingen, die sowohl Struktur als auch Verhalten eines Roboters abbilden.</a:t>
            </a:r>
          </a:p>
          <a:p>
            <a:r>
              <a:rPr lang="de-DE" altLang="zh-CN" dirty="0"/>
              <a:t>Gleichzeitig besteht zukünftiger Entwicklungsbedarf:</a:t>
            </a:r>
            <a:br>
              <a:rPr lang="de-DE" altLang="zh-CN" dirty="0"/>
            </a:br>
            <a:r>
              <a:rPr lang="de-DE" altLang="zh-CN" dirty="0"/>
              <a:t>Die Unterstützung heterogener Roboter ist teilweise noch mit manuellem Aufwand verbunden.</a:t>
            </a:r>
            <a:br>
              <a:rPr lang="de-DE" altLang="zh-CN" dirty="0"/>
            </a:br>
            <a:r>
              <a:rPr lang="de-DE" altLang="zh-CN" dirty="0"/>
              <a:t>In weiteren Arbeiten soll die automatische Generierung auf zusätzliche Robotertypen ausgeweitet werden, um die </a:t>
            </a:r>
            <a:r>
              <a:rPr lang="de-DE" altLang="zh-CN" b="1" dirty="0"/>
              <a:t>Übertragbarkeit und Plattformunabhängigkeit</a:t>
            </a:r>
            <a:r>
              <a:rPr lang="de-DE" altLang="zh-CN" dirty="0"/>
              <a:t> weiter zu erhöhen und das AAS-basierte Modellierungsframework für eine breitere industrielle Anwendung nutzbar zu machen.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342816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altLang="zh-CN" dirty="0"/>
              <a:t>Zusammenfassend schafft diese Arbeit nicht nur ein wiederverwendbares, standardisiertes und vollständig automatisiertes System zur Generierung von Roboterdigitalzwillingen, sondern eröffnet auch einen klaren Entwicklungspfad für zukünftige Erweiterungen – etwa die Integration von Laufzeitsemantik, die Vernetzung mehrerer Anlagenkomponenten auf Fabrikebene sowie die Kopplung mit industriellen Kommunikationsframeworks wie OPC UA.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2889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Quer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617D12E-D9F2-FE30-962E-F64655611604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 bwMode="gray">
          <a:xfrm>
            <a:off x="0" y="1"/>
            <a:ext cx="12191999" cy="3824287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46F4A2-1BBD-C6A2-7866-B5B1968C9412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371475" y="4038599"/>
            <a:ext cx="10261029" cy="1694655"/>
          </a:xfrm>
        </p:spPr>
        <p:txBody>
          <a:bodyPr rIns="0" anchor="t"/>
          <a:lstStyle>
            <a:lvl1pPr algn="l">
              <a:defRPr sz="5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604293-CF1F-A295-5586-92D0F86F4A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583832" y="5733256"/>
            <a:ext cx="6048672" cy="543718"/>
          </a:xfrm>
        </p:spPr>
        <p:txBody>
          <a:bodyPr rIns="0" anchor="b"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2pPr>
            <a:lvl3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3pPr>
            <a:lvl4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4pPr>
            <a:lvl5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5pPr>
            <a:lvl6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6pPr>
            <a:lvl7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7pPr>
            <a:lvl8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8pPr>
            <a:lvl9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Wissenschaftliche Mitarbeiter</a:t>
            </a:r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B05E904A-C9EA-86A7-9664-F1BEB574F064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0" y="6858000"/>
            <a:ext cx="0" cy="0"/>
          </a:xfrm>
          <a:prstGeom prst="rect">
            <a:avLst/>
          </a:prstGeom>
        </p:spPr>
        <p:txBody>
          <a:bodyPr vert="horz" wrap="none" lIns="0" tIns="36000" rIns="0" bIns="0" rtlCol="0" anchor="ctr">
            <a:normAutofit fontScale="25000" lnSpcReduction="20000"/>
          </a:bodyPr>
          <a:lstStyle>
            <a:defPPr>
              <a:defRPr lang="de-DE"/>
            </a:defPPr>
            <a:lvl1pPr marL="0" algn="l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Datum aus technischen Gründen nicht deaktivieren!</a:t>
            </a:r>
          </a:p>
        </p:txBody>
      </p:sp>
      <p:sp>
        <p:nvSpPr>
          <p:cNvPr id="6" name="SmartArt-Platzhalter 10">
            <a:extLst>
              <a:ext uri="{FF2B5EF4-FFF2-40B4-BE49-F238E27FC236}">
                <a16:creationId xmlns:a16="http://schemas.microsoft.com/office/drawing/2014/main" id="{A96C0EF9-BA74-F815-E094-6E6D6E1F1198}"/>
              </a:ext>
            </a:extLst>
          </p:cNvPr>
          <p:cNvSpPr>
            <a:spLocks noGrp="1" noChangeAspect="1"/>
          </p:cNvSpPr>
          <p:nvPr>
            <p:ph type="dgm" sz="quarter" idx="20" hasCustomPrompt="1"/>
          </p:nvPr>
        </p:nvSpPr>
        <p:spPr bwMode="gray">
          <a:xfrm>
            <a:off x="10710878" y="368661"/>
            <a:ext cx="861983" cy="309203"/>
          </a:xfrm>
          <a:custGeom>
            <a:avLst/>
            <a:gdLst>
              <a:gd name="connsiteX0" fmla="*/ 672615 w 881062"/>
              <a:gd name="connsiteY0" fmla="*/ 316 h 316047"/>
              <a:gd name="connsiteX1" fmla="*/ 881062 w 881062"/>
              <a:gd name="connsiteY1" fmla="*/ 316 h 316047"/>
              <a:gd name="connsiteX2" fmla="*/ 881062 w 881062"/>
              <a:gd name="connsiteY2" fmla="*/ 71315 h 316047"/>
              <a:gd name="connsiteX3" fmla="*/ 820105 w 881062"/>
              <a:gd name="connsiteY3" fmla="*/ 71315 h 316047"/>
              <a:gd name="connsiteX4" fmla="*/ 820105 w 881062"/>
              <a:gd name="connsiteY4" fmla="*/ 316047 h 316047"/>
              <a:gd name="connsiteX5" fmla="*/ 733572 w 881062"/>
              <a:gd name="connsiteY5" fmla="*/ 316047 h 316047"/>
              <a:gd name="connsiteX6" fmla="*/ 733572 w 881062"/>
              <a:gd name="connsiteY6" fmla="*/ 71315 h 316047"/>
              <a:gd name="connsiteX7" fmla="*/ 672615 w 881062"/>
              <a:gd name="connsiteY7" fmla="*/ 71315 h 316047"/>
              <a:gd name="connsiteX8" fmla="*/ 565331 w 881062"/>
              <a:gd name="connsiteY8" fmla="*/ 316 h 316047"/>
              <a:gd name="connsiteX9" fmla="*/ 651859 w 881062"/>
              <a:gd name="connsiteY9" fmla="*/ 316 h 316047"/>
              <a:gd name="connsiteX10" fmla="*/ 651859 w 881062"/>
              <a:gd name="connsiteY10" fmla="*/ 315733 h 316047"/>
              <a:gd name="connsiteX11" fmla="*/ 565331 w 881062"/>
              <a:gd name="connsiteY11" fmla="*/ 315733 h 316047"/>
              <a:gd name="connsiteX12" fmla="*/ 316992 w 881062"/>
              <a:gd name="connsiteY12" fmla="*/ 316 h 316047"/>
              <a:gd name="connsiteX13" fmla="*/ 319603 w 881062"/>
              <a:gd name="connsiteY13" fmla="*/ 316 h 316047"/>
              <a:gd name="connsiteX14" fmla="*/ 319289 w 881062"/>
              <a:gd name="connsiteY14" fmla="*/ 315733 h 316047"/>
              <a:gd name="connsiteX15" fmla="*/ 319243 w 881062"/>
              <a:gd name="connsiteY15" fmla="*/ 315733 h 316047"/>
              <a:gd name="connsiteX16" fmla="*/ 319243 w 881062"/>
              <a:gd name="connsiteY16" fmla="*/ 315729 h 316047"/>
              <a:gd name="connsiteX17" fmla="*/ 0 w 881062"/>
              <a:gd name="connsiteY17" fmla="*/ 315729 h 316047"/>
              <a:gd name="connsiteX18" fmla="*/ 10040 w 881062"/>
              <a:gd name="connsiteY18" fmla="*/ 238565 h 316047"/>
              <a:gd name="connsiteX19" fmla="*/ 319239 w 881062"/>
              <a:gd name="connsiteY19" fmla="*/ 315718 h 316047"/>
              <a:gd name="connsiteX20" fmla="*/ 319236 w 881062"/>
              <a:gd name="connsiteY20" fmla="*/ 315705 h 316047"/>
              <a:gd name="connsiteX21" fmla="*/ 30795 w 881062"/>
              <a:gd name="connsiteY21" fmla="*/ 181522 h 316047"/>
              <a:gd name="connsiteX22" fmla="*/ 72618 w 881062"/>
              <a:gd name="connsiteY22" fmla="*/ 115703 h 316047"/>
              <a:gd name="connsiteX23" fmla="*/ 319230 w 881062"/>
              <a:gd name="connsiteY23" fmla="*/ 315681 h 316047"/>
              <a:gd name="connsiteX24" fmla="*/ 319204 w 881062"/>
              <a:gd name="connsiteY24" fmla="*/ 315579 h 316047"/>
              <a:gd name="connsiteX25" fmla="*/ 118629 w 881062"/>
              <a:gd name="connsiteY25" fmla="*/ 70321 h 316047"/>
              <a:gd name="connsiteX26" fmla="*/ 184766 w 881062"/>
              <a:gd name="connsiteY26" fmla="*/ 29486 h 316047"/>
              <a:gd name="connsiteX27" fmla="*/ 319187 w 881062"/>
              <a:gd name="connsiteY27" fmla="*/ 315512 h 316047"/>
              <a:gd name="connsiteX28" fmla="*/ 242439 w 881062"/>
              <a:gd name="connsiteY28" fmla="*/ 9408 h 316047"/>
              <a:gd name="connsiteX29" fmla="*/ 316992 w 881062"/>
              <a:gd name="connsiteY29" fmla="*/ 316 h 316047"/>
              <a:gd name="connsiteX30" fmla="*/ 450887 w 881062"/>
              <a:gd name="connsiteY30" fmla="*/ 0 h 316047"/>
              <a:gd name="connsiteX31" fmla="*/ 550067 w 881062"/>
              <a:gd name="connsiteY31" fmla="*/ 0 h 316047"/>
              <a:gd name="connsiteX32" fmla="*/ 422343 w 881062"/>
              <a:gd name="connsiteY32" fmla="*/ 158833 h 316047"/>
              <a:gd name="connsiteX33" fmla="*/ 550698 w 881062"/>
              <a:gd name="connsiteY33" fmla="*/ 315733 h 316047"/>
              <a:gd name="connsiteX34" fmla="*/ 454488 w 881062"/>
              <a:gd name="connsiteY34" fmla="*/ 315733 h 316047"/>
              <a:gd name="connsiteX35" fmla="*/ 340045 w 881062"/>
              <a:gd name="connsiteY35" fmla="*/ 192869 h 316047"/>
              <a:gd name="connsiteX36" fmla="*/ 340045 w 881062"/>
              <a:gd name="connsiteY36" fmla="*/ 122548 h 316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81062" h="316047">
                <a:moveTo>
                  <a:pt x="672615" y="316"/>
                </a:moveTo>
                <a:lnTo>
                  <a:pt x="881062" y="316"/>
                </a:lnTo>
                <a:lnTo>
                  <a:pt x="881062" y="71315"/>
                </a:lnTo>
                <a:lnTo>
                  <a:pt x="820105" y="71315"/>
                </a:lnTo>
                <a:lnTo>
                  <a:pt x="820105" y="316047"/>
                </a:lnTo>
                <a:lnTo>
                  <a:pt x="733572" y="316047"/>
                </a:lnTo>
                <a:lnTo>
                  <a:pt x="733572" y="71315"/>
                </a:lnTo>
                <a:lnTo>
                  <a:pt x="672615" y="71315"/>
                </a:lnTo>
                <a:close/>
                <a:moveTo>
                  <a:pt x="565331" y="316"/>
                </a:moveTo>
                <a:lnTo>
                  <a:pt x="651859" y="316"/>
                </a:lnTo>
                <a:lnTo>
                  <a:pt x="651859" y="315733"/>
                </a:lnTo>
                <a:lnTo>
                  <a:pt x="565331" y="315733"/>
                </a:lnTo>
                <a:close/>
                <a:moveTo>
                  <a:pt x="316992" y="316"/>
                </a:moveTo>
                <a:lnTo>
                  <a:pt x="319603" y="316"/>
                </a:lnTo>
                <a:lnTo>
                  <a:pt x="319289" y="315733"/>
                </a:lnTo>
                <a:lnTo>
                  <a:pt x="319243" y="315733"/>
                </a:lnTo>
                <a:lnTo>
                  <a:pt x="319243" y="315729"/>
                </a:lnTo>
                <a:lnTo>
                  <a:pt x="0" y="315729"/>
                </a:lnTo>
                <a:cubicBezTo>
                  <a:pt x="314" y="289122"/>
                  <a:pt x="3556" y="263191"/>
                  <a:pt x="10040" y="238565"/>
                </a:cubicBezTo>
                <a:lnTo>
                  <a:pt x="319239" y="315718"/>
                </a:lnTo>
                <a:lnTo>
                  <a:pt x="319236" y="315705"/>
                </a:lnTo>
                <a:lnTo>
                  <a:pt x="30795" y="181522"/>
                </a:lnTo>
                <a:cubicBezTo>
                  <a:pt x="41825" y="157842"/>
                  <a:pt x="56097" y="135780"/>
                  <a:pt x="72618" y="115703"/>
                </a:cubicBezTo>
                <a:lnTo>
                  <a:pt x="319230" y="315681"/>
                </a:lnTo>
                <a:lnTo>
                  <a:pt x="319204" y="315579"/>
                </a:lnTo>
                <a:lnTo>
                  <a:pt x="118629" y="70321"/>
                </a:lnTo>
                <a:cubicBezTo>
                  <a:pt x="138754" y="54114"/>
                  <a:pt x="160770" y="40518"/>
                  <a:pt x="184766" y="29486"/>
                </a:cubicBezTo>
                <a:lnTo>
                  <a:pt x="319187" y="315512"/>
                </a:lnTo>
                <a:lnTo>
                  <a:pt x="242439" y="9408"/>
                </a:lnTo>
                <a:cubicBezTo>
                  <a:pt x="266435" y="3556"/>
                  <a:pt x="291376" y="316"/>
                  <a:pt x="316992" y="316"/>
                </a:cubicBezTo>
                <a:close/>
                <a:moveTo>
                  <a:pt x="450887" y="0"/>
                </a:moveTo>
                <a:lnTo>
                  <a:pt x="550067" y="0"/>
                </a:lnTo>
                <a:lnTo>
                  <a:pt x="422343" y="158833"/>
                </a:lnTo>
                <a:lnTo>
                  <a:pt x="550698" y="315733"/>
                </a:lnTo>
                <a:lnTo>
                  <a:pt x="454488" y="315733"/>
                </a:lnTo>
                <a:lnTo>
                  <a:pt x="340045" y="192869"/>
                </a:lnTo>
                <a:lnTo>
                  <a:pt x="340045" y="122548"/>
                </a:lnTo>
                <a:close/>
              </a:path>
            </a:pathLst>
          </a:custGeom>
          <a:solidFill>
            <a:schemeClr val="bg1"/>
          </a:solidFill>
        </p:spPr>
        <p:txBody>
          <a:bodyPr wrap="non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 noProof="1"/>
              <a:t> dsafasdfadsfdsfasdfsadfasdfadsf sdaf asdfasdf</a:t>
            </a:r>
          </a:p>
        </p:txBody>
      </p:sp>
      <p:pic>
        <p:nvPicPr>
          <p:cNvPr id="10" name="IRS Logo">
            <a:extLst>
              <a:ext uri="{FF2B5EF4-FFF2-40B4-BE49-F238E27FC236}">
                <a16:creationId xmlns:a16="http://schemas.microsoft.com/office/drawing/2014/main" id="{3BF33073-07D7-4C02-9EC7-10BC5B0137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0877" y="5966045"/>
            <a:ext cx="861983" cy="307755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2C444F0-77B6-4297-AC1D-44A89EB098AF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FB1EF28-FBB6-4D2E-9B0C-3BDB4278F1ED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A14C02B-FFE8-4BFB-86AC-5690CA334A4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9615C55-CBCA-4F9E-B743-EE06007AD56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‹#›</a:t>
            </a:fld>
            <a:endParaRPr lang="de-DE" noProof="1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A5001851-ECF9-4C02-AD06-5A4374B110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730081"/>
            <a:ext cx="4068341" cy="543717"/>
          </a:xfrm>
        </p:spPr>
        <p:txBody>
          <a:bodyPr anchor="b"/>
          <a:lstStyle>
            <a:lvl1pPr marL="0" indent="0">
              <a:buNone/>
              <a:defRPr lang="de-DE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Professoren</a:t>
            </a:r>
          </a:p>
        </p:txBody>
      </p:sp>
    </p:spTree>
    <p:extLst>
      <p:ext uri="{BB962C8B-B14F-4D97-AF65-F5344CB8AC3E}">
        <p14:creationId xmlns:p14="http://schemas.microsoft.com/office/powerpoint/2010/main" val="3854709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617D12E-D9F2-FE30-962E-F646556116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988051" y="1"/>
            <a:ext cx="4103687" cy="6858000"/>
          </a:xfrm>
        </p:spPr>
        <p:txBody>
          <a:bodyPr tIns="936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14472A9-C746-414B-A339-17009C086F0C}"/>
              </a:ext>
            </a:extLst>
          </p:cNvPr>
          <p:cNvSpPr/>
          <p:nvPr userDrawn="1"/>
        </p:nvSpPr>
        <p:spPr bwMode="gray">
          <a:xfrm>
            <a:off x="0" y="0"/>
            <a:ext cx="598805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46F4A2-1BBD-C6A2-7866-B5B1968C9412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71475" y="368300"/>
            <a:ext cx="5616575" cy="4681538"/>
          </a:xfrm>
        </p:spPr>
        <p:txBody>
          <a:bodyPr rIns="360000" anchor="t"/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604293-CF1F-A295-5586-92D0F86F4A34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71475" y="5265738"/>
            <a:ext cx="5616575" cy="1011236"/>
          </a:xfrm>
        </p:spPr>
        <p:txBody>
          <a:bodyPr rIns="360000" anchor="b"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Master-Untertitelformat bearbeiten</a:t>
            </a:r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484C6BD-91DB-46E4-D1D8-D75CEFB669AE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59D79EA9-159E-AF02-E8D2-0E0E2BFCBD4B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D0DC72A4-EA66-1D2C-67F7-6C89ECA758CD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pic>
        <p:nvPicPr>
          <p:cNvPr id="13" name="IRS Logo">
            <a:extLst>
              <a:ext uri="{FF2B5EF4-FFF2-40B4-BE49-F238E27FC236}">
                <a16:creationId xmlns:a16="http://schemas.microsoft.com/office/drawing/2014/main" id="{E76E2970-E296-4380-811E-81889CDEE6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0877" y="5966045"/>
            <a:ext cx="861983" cy="30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457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CD1E56A9-7120-0C1B-1DFE-FB4F2B9F90B7}"/>
              </a:ext>
            </a:extLst>
          </p:cNvPr>
          <p:cNvSpPr/>
          <p:nvPr userDrawn="1"/>
        </p:nvSpPr>
        <p:spPr bwMode="gray">
          <a:xfrm>
            <a:off x="10091738" y="1"/>
            <a:ext cx="2100262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F5B4F9-46BC-DCE2-AB96-AC7CB76E8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71475" y="368299"/>
            <a:ext cx="1728788" cy="1008063"/>
          </a:xfrm>
        </p:spPr>
        <p:txBody>
          <a:bodyPr tIns="252000"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Inhalte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A62E724-8D8E-017B-D237-54AB651DA6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2316163" y="368300"/>
            <a:ext cx="6588125" cy="4681538"/>
          </a:xfrm>
        </p:spPr>
        <p:txBody>
          <a:bodyPr tIns="252000"/>
          <a:lstStyle>
            <a:lvl1pPr marL="540000" indent="-540000">
              <a:lnSpc>
                <a:spcPct val="85000"/>
              </a:lnSpc>
              <a:spcBef>
                <a:spcPts val="1800"/>
              </a:spcBef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  <a:defRPr sz="3500">
                <a:solidFill>
                  <a:schemeClr val="bg1"/>
                </a:solidFill>
                <a:latin typeface="+mj-lt"/>
              </a:defRPr>
            </a:lvl1pPr>
            <a:lvl2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+mj-lt"/>
              <a:buAutoNum type="alphaLcPeriod"/>
              <a:defRPr sz="1600">
                <a:solidFill>
                  <a:schemeClr val="bg1"/>
                </a:solidFill>
              </a:defRPr>
            </a:lvl3pPr>
            <a:lvl4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6pPr>
            <a:lvl7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7pPr>
            <a:lvl8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8pPr>
            <a:lvl9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4" name="IRS Logo">
            <a:extLst>
              <a:ext uri="{FF2B5EF4-FFF2-40B4-BE49-F238E27FC236}">
                <a16:creationId xmlns:a16="http://schemas.microsoft.com/office/drawing/2014/main" id="{FFAA88ED-6E21-4C8E-8E75-982AF751AC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4512" y="368299"/>
            <a:ext cx="866036" cy="30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079192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49F37-C71A-F97E-E3A7-139DDD7F9DA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371475" y="4041774"/>
            <a:ext cx="7561263" cy="2232025"/>
          </a:xfrm>
        </p:spPr>
        <p:txBody>
          <a:bodyPr tIns="72000"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FF8578ED-5C80-7F30-EAC9-58EF35B5425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"/>
            <a:ext cx="12191999" cy="3824287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2A2A9F0-A69F-C43F-A107-E3FA32B328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10091738" y="4041776"/>
            <a:ext cx="1726244" cy="365518"/>
          </a:xfrm>
        </p:spPr>
        <p:txBody>
          <a:bodyPr wrap="none" tIns="108000"/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1pPr>
            <a:lvl2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</a:defRPr>
            </a:lvl2pPr>
            <a:lvl3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3pPr>
            <a:lvl4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7pPr>
            <a:lvl8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8pPr>
            <a:lvl9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17" name="Textplatzhalter 13">
            <a:extLst>
              <a:ext uri="{FF2B5EF4-FFF2-40B4-BE49-F238E27FC236}">
                <a16:creationId xmlns:a16="http://schemas.microsoft.com/office/drawing/2014/main" id="{4FC48BF4-7798-9F53-9DFC-ED348CD6B0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0091738" y="4407464"/>
            <a:ext cx="1726244" cy="858274"/>
          </a:xfrm>
        </p:spPr>
        <p:txBody>
          <a:bodyPr wrap="none" tIns="0"/>
          <a:lstStyle>
            <a:lvl1pPr marL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>
                    <a:alpha val="60000"/>
                  </a:schemeClr>
                </a:solidFill>
                <a:latin typeface="+mj-lt"/>
              </a:defRPr>
            </a:lvl1pPr>
            <a:lvl2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5pPr>
            <a:lvl6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6pPr>
            <a:lvl7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7pPr>
            <a:lvl8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8pPr>
            <a:lvl9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8A65190-0278-D712-7185-458914BDE89A}"/>
              </a:ext>
            </a:extLst>
          </p:cNvPr>
          <p:cNvSpPr/>
          <p:nvPr userDrawn="1"/>
        </p:nvSpPr>
        <p:spPr bwMode="gray">
          <a:xfrm>
            <a:off x="12252684" y="4041774"/>
            <a:ext cx="1908212" cy="183549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/>
          <a:lstStyle/>
          <a:p>
            <a:pPr algn="l"/>
            <a:r>
              <a:rPr lang="de-DE" sz="1000" b="1" dirty="0">
                <a:solidFill>
                  <a:schemeClr val="tx1"/>
                </a:solidFill>
              </a:rPr>
              <a:t>Kapiteltrenner Farbe</a:t>
            </a:r>
          </a:p>
          <a:p>
            <a:pPr algn="l"/>
            <a:r>
              <a:rPr lang="de-DE" sz="1000" dirty="0">
                <a:solidFill>
                  <a:schemeClr val="tx1"/>
                </a:solidFill>
              </a:rPr>
              <a:t>Für eine bessere Übersicht kann der Kapiteltrenner Farblich angepasst werden.</a:t>
            </a:r>
          </a:p>
          <a:p>
            <a:pPr algn="l"/>
            <a:endParaRPr lang="de-DE" sz="1000" b="0" dirty="0">
              <a:solidFill>
                <a:schemeClr val="tx1"/>
              </a:solidFill>
            </a:endParaRPr>
          </a:p>
          <a:p>
            <a:pPr algn="l"/>
            <a:r>
              <a:rPr lang="de-DE" sz="1000" b="0" dirty="0">
                <a:solidFill>
                  <a:schemeClr val="tx1"/>
                </a:solidFill>
              </a:rPr>
              <a:t>Rechtsklick neben der Folie,</a:t>
            </a:r>
          </a:p>
          <a:p>
            <a:pPr algn="l"/>
            <a:r>
              <a:rPr lang="de-DE" sz="1000" b="1" dirty="0">
                <a:solidFill>
                  <a:schemeClr val="tx1"/>
                </a:solidFill>
              </a:rPr>
              <a:t>Hintergrund formatieren,</a:t>
            </a:r>
            <a:br>
              <a:rPr lang="de-DE" sz="1000" b="1" dirty="0">
                <a:solidFill>
                  <a:schemeClr val="tx1"/>
                </a:solidFill>
              </a:rPr>
            </a:br>
            <a:r>
              <a:rPr lang="de-DE" sz="1000" b="1" dirty="0">
                <a:solidFill>
                  <a:schemeClr val="tx1"/>
                </a:solidFill>
              </a:rPr>
              <a:t>Design Farbe </a:t>
            </a:r>
            <a:r>
              <a:rPr lang="de-DE" sz="1000" b="0" dirty="0">
                <a:solidFill>
                  <a:schemeClr val="tx1"/>
                </a:solidFill>
              </a:rPr>
              <a:t>auswählen.</a:t>
            </a:r>
            <a:endParaRPr lang="de-DE" sz="1000" b="1" dirty="0">
              <a:solidFill>
                <a:schemeClr val="tx1"/>
              </a:solidFill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0105423-6B46-120A-0BA8-0B71D20B9EDB}"/>
              </a:ext>
            </a:extLst>
          </p:cNvPr>
          <p:cNvSpPr/>
          <p:nvPr userDrawn="1"/>
        </p:nvSpPr>
        <p:spPr bwMode="gray">
          <a:xfrm>
            <a:off x="1239670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C49502F4-B000-C269-8071-9A63E2A72653}"/>
              </a:ext>
            </a:extLst>
          </p:cNvPr>
          <p:cNvSpPr/>
          <p:nvPr userDrawn="1"/>
        </p:nvSpPr>
        <p:spPr bwMode="gray">
          <a:xfrm>
            <a:off x="1261645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7E2FD37A-1CC6-89FD-5DDD-E6570ACC76CE}"/>
              </a:ext>
            </a:extLst>
          </p:cNvPr>
          <p:cNvSpPr/>
          <p:nvPr userDrawn="1"/>
        </p:nvSpPr>
        <p:spPr bwMode="gray">
          <a:xfrm>
            <a:off x="1283620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39F4507-52B0-54F8-D940-968CA169441A}"/>
              </a:ext>
            </a:extLst>
          </p:cNvPr>
          <p:cNvSpPr/>
          <p:nvPr userDrawn="1"/>
        </p:nvSpPr>
        <p:spPr bwMode="gray">
          <a:xfrm>
            <a:off x="1305595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3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1057D053-9A95-35E0-0244-4F994B98FF23}"/>
              </a:ext>
            </a:extLst>
          </p:cNvPr>
          <p:cNvSpPr/>
          <p:nvPr userDrawn="1"/>
        </p:nvSpPr>
        <p:spPr bwMode="gray">
          <a:xfrm>
            <a:off x="1327570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3F5C6E84-2A68-9158-2D5F-E1AB8B02124C}"/>
              </a:ext>
            </a:extLst>
          </p:cNvPr>
          <p:cNvSpPr/>
          <p:nvPr userDrawn="1"/>
        </p:nvSpPr>
        <p:spPr bwMode="gray">
          <a:xfrm>
            <a:off x="13495450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0AE386D5-4201-6C21-55BF-AE30828A74FF}"/>
              </a:ext>
            </a:extLst>
          </p:cNvPr>
          <p:cNvSpPr/>
          <p:nvPr userDrawn="1"/>
        </p:nvSpPr>
        <p:spPr bwMode="gray">
          <a:xfrm>
            <a:off x="13715202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pic>
        <p:nvPicPr>
          <p:cNvPr id="20" name="IRS Logo">
            <a:extLst>
              <a:ext uri="{FF2B5EF4-FFF2-40B4-BE49-F238E27FC236}">
                <a16:creationId xmlns:a16="http://schemas.microsoft.com/office/drawing/2014/main" id="{829727FF-439F-4EE5-B601-2A679D2E4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7695" y="6437457"/>
            <a:ext cx="692830" cy="24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14130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vo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430767E-2D3E-45EC-A2CE-119792C6AEE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71475" y="1571012"/>
            <a:ext cx="11449051" cy="4681538"/>
          </a:xfrm>
        </p:spPr>
        <p:txBody>
          <a:bodyPr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9C9F50A-CE47-45E3-913D-38BDBFCE519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6B7A8C3-2468-423B-815C-D946C912EE31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2AEF1C5C-CDC9-4134-BA7C-C5654F557B7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599F8665-CBCE-4961-8E1A-FAAD7CA7E2F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‹#›</a:t>
            </a:fld>
            <a:endParaRPr lang="de-DE" noProof="1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381403DB-DED6-423B-9096-D3A58B51BF8B}"/>
              </a:ext>
            </a:extLst>
          </p:cNvPr>
          <p:cNvSpPr>
            <a:spLocks noGrp="1" noChangeAspect="1"/>
          </p:cNvSpPr>
          <p:nvPr>
            <p:ph sz="quarter" idx="22" hasCustomPrompt="1"/>
          </p:nvPr>
        </p:nvSpPr>
        <p:spPr>
          <a:xfrm>
            <a:off x="10812525" y="363132"/>
            <a:ext cx="1007937" cy="1008000"/>
          </a:xfr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de-DE" dirty="0"/>
              <a:t>Icon einfügen</a:t>
            </a:r>
          </a:p>
        </p:txBody>
      </p:sp>
    </p:spTree>
    <p:extLst>
      <p:ext uri="{BB962C8B-B14F-4D97-AF65-F5344CB8AC3E}">
        <p14:creationId xmlns:p14="http://schemas.microsoft.com/office/powerpoint/2010/main" val="303499720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leere Arbeitsflä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5B0771-ABBC-4D84-BA55-15ED415A84A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311BDC7-73F2-49E3-848D-A379F5CD82FC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F332E-1364-41E8-9A41-01AE4F63E97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0AA36D-3335-4283-B2DB-B53F97AC1F1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‹#›</a:t>
            </a:fld>
            <a:endParaRPr lang="de-DE" noProof="1"/>
          </a:p>
        </p:txBody>
      </p:sp>
      <p:sp>
        <p:nvSpPr>
          <p:cNvPr id="7" name="Inhaltsplatzhalter 12">
            <a:extLst>
              <a:ext uri="{FF2B5EF4-FFF2-40B4-BE49-F238E27FC236}">
                <a16:creationId xmlns:a16="http://schemas.microsoft.com/office/drawing/2014/main" id="{0E82A9AD-C10C-4F98-A4B5-D19813EBD0C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0775950" y="368300"/>
            <a:ext cx="1044575" cy="1008063"/>
          </a:xfr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de-DE" dirty="0"/>
              <a:t>Icon einfügen</a:t>
            </a:r>
          </a:p>
        </p:txBody>
      </p:sp>
    </p:spTree>
    <p:extLst>
      <p:ext uri="{BB962C8B-B14F-4D97-AF65-F5344CB8AC3E}">
        <p14:creationId xmlns:p14="http://schemas.microsoft.com/office/powerpoint/2010/main" val="18619585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Schreibber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68A56DCE-0A05-4E85-974C-E29D1C7B1B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5507" t="750" r="3196" b="241"/>
          <a:stretch/>
        </p:blipFill>
        <p:spPr>
          <a:xfrm rot="5400000">
            <a:off x="3755230" y="-1791492"/>
            <a:ext cx="4681538" cy="114490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A672CA-ED91-4AF0-BECE-14B54FA6200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96B3859-08F9-400A-AB77-6190C9153C88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7EC030-F202-46F6-8139-3AB066ECAAD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BE1067D-524D-47F6-92E8-87293B5C39D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‹#›</a:t>
            </a:fld>
            <a:endParaRPr lang="de-DE" noProof="1"/>
          </a:p>
        </p:txBody>
      </p:sp>
      <p:sp>
        <p:nvSpPr>
          <p:cNvPr id="8" name="Inhaltsplatzhalter 12">
            <a:extLst>
              <a:ext uri="{FF2B5EF4-FFF2-40B4-BE49-F238E27FC236}">
                <a16:creationId xmlns:a16="http://schemas.microsoft.com/office/drawing/2014/main" id="{46C83608-FA2F-4CBB-A8F8-EC832DCEA9E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0775950" y="368300"/>
            <a:ext cx="1044575" cy="1008063"/>
          </a:xfr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de-DE" dirty="0"/>
              <a:t>Icon einfügen</a:t>
            </a:r>
          </a:p>
        </p:txBody>
      </p:sp>
    </p:spTree>
    <p:extLst>
      <p:ext uri="{BB962C8B-B14F-4D97-AF65-F5344CB8AC3E}">
        <p14:creationId xmlns:p14="http://schemas.microsoft.com/office/powerpoint/2010/main" val="116102841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x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D468D70A-BEE4-4219-9ED8-A25AB8B1E21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203952" y="1571012"/>
            <a:ext cx="5616573" cy="46815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DFED5631-F1A9-4335-A04B-4FEE45F0185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71475" y="1571012"/>
            <a:ext cx="5616573" cy="46815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C8A5D0-2C7D-4545-BDA7-26E854D4F72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5147178-4C69-4834-9FE8-377D50EEB8DE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060C6A-E0BC-4A85-891A-BD715AAD1DC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F4F84D-BD7A-4A7D-AE6B-5529CCC5333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‹#›</a:t>
            </a:fld>
            <a:endParaRPr lang="de-DE" noProof="1"/>
          </a:p>
        </p:txBody>
      </p:sp>
      <p:sp>
        <p:nvSpPr>
          <p:cNvPr id="9" name="Inhaltsplatzhalter 12">
            <a:extLst>
              <a:ext uri="{FF2B5EF4-FFF2-40B4-BE49-F238E27FC236}">
                <a16:creationId xmlns:a16="http://schemas.microsoft.com/office/drawing/2014/main" id="{C4065BE2-BC95-4F6A-8B63-AC99CCED99E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0775950" y="368300"/>
            <a:ext cx="1044575" cy="1008063"/>
          </a:xfr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de-DE" dirty="0"/>
              <a:t>Icon einfügen</a:t>
            </a:r>
          </a:p>
        </p:txBody>
      </p:sp>
    </p:spTree>
    <p:extLst>
      <p:ext uri="{BB962C8B-B14F-4D97-AF65-F5344CB8AC3E}">
        <p14:creationId xmlns:p14="http://schemas.microsoft.com/office/powerpoint/2010/main" val="325996826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 3x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ED783300-7C99-493F-BADE-2F526BF87D27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155944" y="1569144"/>
            <a:ext cx="3671884" cy="468153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75256AE2-F9F3-4E5A-A31D-7E4AEB5AF72F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9262" y="1584601"/>
            <a:ext cx="3671884" cy="468153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31BE4FD8-DBE2-4668-A3BC-2128929D563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71476" y="1571012"/>
            <a:ext cx="3671884" cy="468153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C6C334-7CC8-40D4-B5D2-79CB6495305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6AC69F77-983C-47CC-9EEB-9456AF43C0C3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CABB06-3218-4217-9440-DF844E1E821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2F7E79-0BCA-4014-A108-B5DF000923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‹#›</a:t>
            </a:fld>
            <a:endParaRPr lang="de-DE" noProof="1"/>
          </a:p>
        </p:txBody>
      </p:sp>
      <p:sp>
        <p:nvSpPr>
          <p:cNvPr id="10" name="Inhaltsplatzhalter 12">
            <a:extLst>
              <a:ext uri="{FF2B5EF4-FFF2-40B4-BE49-F238E27FC236}">
                <a16:creationId xmlns:a16="http://schemas.microsoft.com/office/drawing/2014/main" id="{8624BC20-D834-40D4-9998-C371609CCD3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775950" y="368300"/>
            <a:ext cx="1044575" cy="1008063"/>
          </a:xfr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de-DE" dirty="0"/>
              <a:t>Icon einfügen</a:t>
            </a:r>
          </a:p>
        </p:txBody>
      </p:sp>
    </p:spTree>
    <p:extLst>
      <p:ext uri="{BB962C8B-B14F-4D97-AF65-F5344CB8AC3E}">
        <p14:creationId xmlns:p14="http://schemas.microsoft.com/office/powerpoint/2010/main" val="1438075662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und Bild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299"/>
            <a:ext cx="5616575" cy="10080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03950" y="1"/>
            <a:ext cx="5988049" cy="6857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pic>
        <p:nvPicPr>
          <p:cNvPr id="10" name="IRS Logo">
            <a:extLst>
              <a:ext uri="{FF2B5EF4-FFF2-40B4-BE49-F238E27FC236}">
                <a16:creationId xmlns:a16="http://schemas.microsoft.com/office/drawing/2014/main" id="{DB45F6DF-D0C1-4863-9E94-47CA1822DD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7695" y="6437457"/>
            <a:ext cx="692830" cy="247362"/>
          </a:xfrm>
          <a:prstGeom prst="rect">
            <a:avLst/>
          </a:prstGeom>
        </p:spPr>
      </p:pic>
      <p:sp>
        <p:nvSpPr>
          <p:cNvPr id="11" name="Rechteck 8">
            <a:extLst>
              <a:ext uri="{FF2B5EF4-FFF2-40B4-BE49-F238E27FC236}">
                <a16:creationId xmlns:a16="http://schemas.microsoft.com/office/drawing/2014/main" id="{34A19D70-BD20-470F-9F28-9A310482A685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de-DE" sz="1000" b="1" dirty="0">
                <a:solidFill>
                  <a:schemeClr val="tx1"/>
                </a:solidFill>
              </a:rPr>
              <a:t>Logo Farbe</a:t>
            </a:r>
          </a:p>
          <a:p>
            <a:pPr algn="l"/>
            <a:r>
              <a:rPr lang="de-DE" sz="1000" dirty="0">
                <a:solidFill>
                  <a:schemeClr val="tx1"/>
                </a:solidFill>
              </a:rPr>
              <a:t>Bei hellen Bildern kann die Logo Farbe auf Weiß geändert werden.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5E5055F-B8AC-4E85-8B6E-FF2387F8258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E9A3282-D4A8-4B17-BCA4-6B75B48C8265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86EF9B2-BF10-4A3F-9D74-51AE32DD5A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C4EC8B9-85EF-43BF-83B2-79E87F5511B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‹#›</a:t>
            </a:fld>
            <a:endParaRPr lang="de-DE" noProof="1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6F96197F-B133-4551-A626-5DE0DA1508B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71476" y="1571012"/>
            <a:ext cx="5616574" cy="46815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4357380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RS Logo">
            <a:extLst>
              <a:ext uri="{FF2B5EF4-FFF2-40B4-BE49-F238E27FC236}">
                <a16:creationId xmlns:a16="http://schemas.microsoft.com/office/drawing/2014/main" id="{843F5535-4DD4-4F81-9FF2-33EA374BAF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0612" y="3209400"/>
            <a:ext cx="1210776" cy="43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31357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A6E552-756E-E293-1DD7-52C0EE5A7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AB4566-983E-A0D7-672A-0A6C76E50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F69355-60B1-1E31-A0D8-DA5191BC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94DE6-E20A-4352-B2E8-A7C15F1FA996}" type="datetime1">
              <a:rPr lang="de-DE" altLang="zh-CN" smtClean="0"/>
              <a:t>08.12.2025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A59C4A-8D8E-2109-38F5-51BEF5397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/>
              <a:t>Karlsruher Institut für Technologie (KIT)   Institut für Regelungs- und Automatisierungssysteme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EAD553-E763-0820-7828-3891220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066F3-C2F1-4F4D-B214-666A8E8CFF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66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2AC8670-2373-ACE7-1748-0B4F79D1DCA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907"/>
            <a:ext cx="11449050" cy="10074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F615B8-B68C-BFF2-C357-D019188813E1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592262"/>
            <a:ext cx="11449050" cy="46815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10645A-C6A4-0669-9312-4601E1886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2100263" y="6273800"/>
            <a:ext cx="8892281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5839F2-D397-6E48-3A61-2C5024B4E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371475" y="6273800"/>
            <a:ext cx="575953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fld id="{776FC98F-84AD-404B-BCCB-49E092AA6DE0}" type="slidenum">
              <a:rPr lang="de-DE" noProof="1" smtClean="0"/>
              <a:pPr/>
              <a:t>‹#›</a:t>
            </a:fld>
            <a:endParaRPr lang="de-DE" noProof="1"/>
          </a:p>
        </p:txBody>
      </p:sp>
      <p:pic>
        <p:nvPicPr>
          <p:cNvPr id="8" name="IRS Logo">
            <a:extLst>
              <a:ext uri="{FF2B5EF4-FFF2-40B4-BE49-F238E27FC236}">
                <a16:creationId xmlns:a16="http://schemas.microsoft.com/office/drawing/2014/main" id="{17A71DA2-C9B2-413D-8888-309D3A4C408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127695" y="6437457"/>
            <a:ext cx="692830" cy="247362"/>
          </a:xfrm>
          <a:prstGeom prst="rect">
            <a:avLst/>
          </a:prstGeom>
        </p:spPr>
      </p:pic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50F823-CF9B-29C2-AD0C-5871331358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/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fld id="{026440A6-4336-4F6F-9B38-FA0FD3294374}" type="datetime1">
              <a:rPr lang="de-DE" altLang="zh-CN" noProof="1" smtClean="0"/>
              <a:t>08.12.2025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123452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49" r:id="rId2"/>
    <p:sldLayoutId id="2147483653" r:id="rId3"/>
    <p:sldLayoutId id="2147483657" r:id="rId4"/>
    <p:sldLayoutId id="2147483698" r:id="rId5"/>
    <p:sldLayoutId id="2147483699" r:id="rId6"/>
    <p:sldLayoutId id="2147483700" r:id="rId7"/>
    <p:sldLayoutId id="2147483659" r:id="rId8"/>
    <p:sldLayoutId id="2147483660" r:id="rId9"/>
    <p:sldLayoutId id="2147483664" r:id="rId10"/>
    <p:sldLayoutId id="2147483692" r:id="rId11"/>
    <p:sldLayoutId id="2147483701" r:id="rId12"/>
  </p:sldLayoutIdLst>
  <p:transition>
    <p:fade/>
  </p:transition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1463" indent="-271463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Wingdings" panose="05000000000000000000" pitchFamily="2" charset="2"/>
        <a:buChar char="§"/>
        <a:defRPr sz="2650" kern="120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9875" algn="l" defTabSz="914400" rtl="0" eaLnBrk="1" latinLnBrk="0" hangingPunct="1">
        <a:lnSpc>
          <a:spcPct val="90000"/>
        </a:lnSpc>
        <a:spcBef>
          <a:spcPts val="48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§"/>
        <a:defRPr sz="2650" kern="1200">
          <a:solidFill>
            <a:schemeClr val="tx1"/>
          </a:solidFill>
          <a:latin typeface="+mn-lt"/>
          <a:ea typeface="+mn-ea"/>
          <a:cs typeface="+mn-cs"/>
        </a:defRPr>
      </a:lvl2pPr>
      <a:lvl3pPr marL="806450" indent="-265113" algn="l" defTabSz="914400" rtl="0" eaLnBrk="1" latinLnBrk="0" hangingPunct="1">
        <a:lnSpc>
          <a:spcPct val="90000"/>
        </a:lnSpc>
        <a:spcBef>
          <a:spcPts val="48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7913" indent="-269875" algn="l" defTabSz="914400" rtl="0" eaLnBrk="1" latinLnBrk="0" hangingPunct="1">
        <a:lnSpc>
          <a:spcPct val="90000"/>
        </a:lnSpc>
        <a:spcBef>
          <a:spcPts val="48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§"/>
        <a:defRPr sz="2130" kern="1200">
          <a:solidFill>
            <a:schemeClr val="tx1"/>
          </a:solidFill>
          <a:latin typeface="+mn-lt"/>
          <a:ea typeface="+mn-ea"/>
          <a:cs typeface="+mn-cs"/>
        </a:defRPr>
      </a:lvl4pPr>
      <a:lvl5pPr marL="1343025" indent="-271463" algn="l" defTabSz="914400" rtl="0" eaLnBrk="1" latinLnBrk="0" hangingPunct="1">
        <a:lnSpc>
          <a:spcPct val="90000"/>
        </a:lnSpc>
        <a:spcBef>
          <a:spcPts val="48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§"/>
        <a:defRPr sz="2130" kern="1200">
          <a:solidFill>
            <a:schemeClr val="tx1"/>
          </a:solidFill>
          <a:latin typeface="+mn-lt"/>
          <a:ea typeface="+mn-ea"/>
          <a:cs typeface="+mn-cs"/>
        </a:defRPr>
      </a:lvl5pPr>
      <a:lvl6pPr marL="1614488" indent="-285750" algn="l" defTabSz="914400" rtl="0" eaLnBrk="1" latinLnBrk="0" hangingPunct="1">
        <a:lnSpc>
          <a:spcPct val="90000"/>
        </a:lnSpc>
        <a:spcBef>
          <a:spcPts val="480"/>
        </a:spcBef>
        <a:spcAft>
          <a:spcPts val="600"/>
        </a:spcAft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984250" indent="182563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pos="7446" userDrawn="1">
          <p15:clr>
            <a:srgbClr val="F26B43"/>
          </p15:clr>
        </p15:guide>
        <p15:guide id="4" pos="1323" userDrawn="1">
          <p15:clr>
            <a:srgbClr val="F26B43"/>
          </p15:clr>
        </p15:guide>
        <p15:guide id="5" pos="1459" userDrawn="1">
          <p15:clr>
            <a:srgbClr val="F26B43"/>
          </p15:clr>
        </p15:guide>
        <p15:guide id="6" pos="2547" userDrawn="1">
          <p15:clr>
            <a:srgbClr val="F26B43"/>
          </p15:clr>
        </p15:guide>
        <p15:guide id="7" pos="2683" userDrawn="1">
          <p15:clr>
            <a:srgbClr val="F26B43"/>
          </p15:clr>
        </p15:guide>
        <p15:guide id="8" pos="3772" userDrawn="1">
          <p15:clr>
            <a:srgbClr val="F26B43"/>
          </p15:clr>
        </p15:guide>
        <p15:guide id="9" pos="3908" userDrawn="1">
          <p15:clr>
            <a:srgbClr val="F26B43"/>
          </p15:clr>
        </p15:guide>
        <p15:guide id="10" pos="4997" userDrawn="1">
          <p15:clr>
            <a:srgbClr val="F26B43"/>
          </p15:clr>
        </p15:guide>
        <p15:guide id="11" pos="5133" userDrawn="1">
          <p15:clr>
            <a:srgbClr val="F26B43"/>
          </p15:clr>
        </p15:guide>
        <p15:guide id="12" pos="6221" userDrawn="1">
          <p15:clr>
            <a:srgbClr val="F26B43"/>
          </p15:clr>
        </p15:guide>
        <p15:guide id="13" pos="6357" userDrawn="1">
          <p15:clr>
            <a:srgbClr val="F26B43"/>
          </p15:clr>
        </p15:guide>
        <p15:guide id="14" pos="1935" userDrawn="1">
          <p15:clr>
            <a:srgbClr val="5ACBF0"/>
          </p15:clr>
        </p15:guide>
        <p15:guide id="15" pos="2071" userDrawn="1">
          <p15:clr>
            <a:srgbClr val="5ACBF0"/>
          </p15:clr>
        </p15:guide>
        <p15:guide id="16" pos="5609" userDrawn="1">
          <p15:clr>
            <a:srgbClr val="5ACBF0"/>
          </p15:clr>
        </p15:guide>
        <p15:guide id="17" pos="5745" userDrawn="1">
          <p15:clr>
            <a:srgbClr val="5ACBF0"/>
          </p15:clr>
        </p15:guide>
        <p15:guide id="18" orient="horz" pos="867" userDrawn="1">
          <p15:clr>
            <a:srgbClr val="F26B43"/>
          </p15:clr>
        </p15:guide>
        <p15:guide id="19" orient="horz" pos="1003" userDrawn="1">
          <p15:clr>
            <a:srgbClr val="F26B43"/>
          </p15:clr>
        </p15:guide>
        <p15:guide id="20" orient="horz" pos="1638" userDrawn="1">
          <p15:clr>
            <a:srgbClr val="F26B43"/>
          </p15:clr>
        </p15:guide>
        <p15:guide id="21" orient="horz" pos="1774" userDrawn="1">
          <p15:clr>
            <a:srgbClr val="F26B43"/>
          </p15:clr>
        </p15:guide>
        <p15:guide id="22" orient="horz" pos="2409" userDrawn="1">
          <p15:clr>
            <a:srgbClr val="F26B43"/>
          </p15:clr>
        </p15:guide>
        <p15:guide id="23" orient="horz" pos="2546" userDrawn="1">
          <p15:clr>
            <a:srgbClr val="F26B43"/>
          </p15:clr>
        </p15:guide>
        <p15:guide id="24" orient="horz" pos="3181" userDrawn="1">
          <p15:clr>
            <a:srgbClr val="F26B43"/>
          </p15:clr>
        </p15:guide>
        <p15:guide id="25" orient="horz" pos="3317" userDrawn="1">
          <p15:clr>
            <a:srgbClr val="F26B43"/>
          </p15:clr>
        </p15:guide>
        <p15:guide id="26" orient="horz" pos="39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31988FB-E78A-4ED3-8B67-F0C163F2F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038599"/>
            <a:ext cx="10837093" cy="1262609"/>
          </a:xfrm>
        </p:spPr>
        <p:txBody>
          <a:bodyPr/>
          <a:lstStyle/>
          <a:p>
            <a:r>
              <a:rPr lang="de-DE" altLang="zh-CN" sz="4000" dirty="0"/>
              <a:t>Design und Implementierung einer Digital-Twin-Infrastruktur für die industrielle Produktion</a:t>
            </a:r>
            <a:endParaRPr lang="de-DE" sz="4000" dirty="0"/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ABE5BE53-E6A1-4FD1-B69D-7DB2463264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b="1" dirty="0" err="1"/>
              <a:t>Betreuer</a:t>
            </a:r>
            <a:r>
              <a:rPr lang="en-US" altLang="zh-CN" dirty="0"/>
              <a:t> : Witucki Linux, M. Sc.</a:t>
            </a:r>
            <a:br>
              <a:rPr lang="en-US" altLang="zh-CN" dirty="0"/>
            </a:br>
            <a:r>
              <a:rPr lang="en-US" altLang="zh-CN" b="1" dirty="0" err="1"/>
              <a:t>Erstprüfer</a:t>
            </a:r>
            <a:r>
              <a:rPr lang="en-US" altLang="zh-CN" dirty="0"/>
              <a:t> : Prof. Dr.-Ing. Mike Barth</a:t>
            </a:r>
            <a:br>
              <a:rPr lang="en-US" altLang="zh-CN" dirty="0"/>
            </a:br>
            <a:r>
              <a:rPr lang="en-US" altLang="zh-CN" b="1" dirty="0" err="1"/>
              <a:t>Zweitprüfer</a:t>
            </a:r>
            <a:r>
              <a:rPr lang="en-US" altLang="zh-CN" dirty="0"/>
              <a:t> : Dr.-Ing. Armin Teltschik</a:t>
            </a:r>
            <a:endParaRPr lang="de-DE" dirty="0"/>
          </a:p>
        </p:txBody>
      </p:sp>
      <p:sp>
        <p:nvSpPr>
          <p:cNvPr id="5" name="SmartArt-Platzhalter 4">
            <a:extLst>
              <a:ext uri="{FF2B5EF4-FFF2-40B4-BE49-F238E27FC236}">
                <a16:creationId xmlns:a16="http://schemas.microsoft.com/office/drawing/2014/main" id="{B462F064-F3DD-4CCF-89FE-121FE736C30C}"/>
              </a:ext>
            </a:extLst>
          </p:cNvPr>
          <p:cNvSpPr>
            <a:spLocks noGrp="1"/>
          </p:cNvSpPr>
          <p:nvPr>
            <p:ph type="dgm" sz="quarter" idx="2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7EBDE9B-6E0B-4CDD-AA04-BFE73DE9E5E5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72C242D-D539-4BA6-8A4F-6933133489A4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E78E471-AF74-435B-848B-280247AE60D4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DE" altLang="zh-CN" dirty="0"/>
              <a:t>Karlsruher Institut für Technologie (KIT) 		Institut für Regelungs- und Automatisierungssysteme</a:t>
            </a:r>
            <a:endParaRPr lang="de-DE" noProof="1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EA7ECBE-E745-4F48-BEEA-1A2B0BB6AD6A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1</a:t>
            </a:fld>
            <a:endParaRPr lang="de-DE" noProof="1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9044A6A-4245-44AF-8720-CCCCEFE02DE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altLang="zh-CN" b="1" dirty="0"/>
              <a:t>Autor</a:t>
            </a:r>
            <a:r>
              <a:rPr lang="en-US" altLang="zh-CN" dirty="0"/>
              <a:t> : Ben He</a:t>
            </a:r>
            <a:endParaRPr lang="de-DE" dirty="0"/>
          </a:p>
        </p:txBody>
      </p:sp>
      <p:pic>
        <p:nvPicPr>
          <p:cNvPr id="10" name="图片占位符 9" descr="图片包含 灯光, 水, 空气, 亮&#10;&#10;AI 生成的内容可能不正确。">
            <a:extLst>
              <a:ext uri="{FF2B5EF4-FFF2-40B4-BE49-F238E27FC236}">
                <a16:creationId xmlns:a16="http://schemas.microsoft.com/office/drawing/2014/main" id="{E37B0739-5087-9028-AF21-9ADE579D308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8079" b="807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9408367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9D2E9-C797-B974-531B-C89A2D47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i="0" u="none" strike="noStrike" baseline="0" dirty="0">
                <a:solidFill>
                  <a:srgbClr val="365F91"/>
                </a:solidFill>
                <a:latin typeface="Calibri" panose="020F0502020204030204" pitchFamily="34" charset="0"/>
                <a:ea typeface="MS Gothic" panose="020B0609070205080204" pitchFamily="49" charset="-128"/>
              </a:rPr>
              <a:t>Motivation-</a:t>
            </a:r>
            <a:r>
              <a:rPr lang="en-US" altLang="zh-CN" b="1" dirty="0">
                <a:solidFill>
                  <a:srgbClr val="365F91"/>
                </a:solidFill>
                <a:latin typeface="Calibri" panose="020F0502020204030204" pitchFamily="34" charset="0"/>
                <a:ea typeface="MS Gothic" panose="020B0609070205080204" pitchFamily="49" charset="-128"/>
              </a:rPr>
              <a:t> </a:t>
            </a:r>
            <a:r>
              <a:rPr lang="en-US" altLang="zh-CN" dirty="0" err="1">
                <a:solidFill>
                  <a:srgbClr val="365F91"/>
                </a:solidFill>
                <a:latin typeface="Calibri" panose="020F0502020204030204" pitchFamily="34" charset="0"/>
                <a:ea typeface="MS Gothic" panose="020B0609070205080204" pitchFamily="49" charset="-128"/>
              </a:rPr>
              <a:t>Problemstellung</a:t>
            </a:r>
            <a:endParaRPr lang="en-US" altLang="zh-CN" b="1" i="0" u="none" strike="noStrike" baseline="0" dirty="0">
              <a:solidFill>
                <a:srgbClr val="365F91"/>
              </a:solidFill>
              <a:latin typeface="Times New Roman" panose="02020603050405020304" pitchFamily="18" charset="0"/>
              <a:ea typeface="MS Gothic" panose="020B0609070205080204" pitchFamily="49" charset="-128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2D422A-DEC7-6D3E-452F-A07033C29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5" y="3861048"/>
            <a:ext cx="11449050" cy="1656184"/>
          </a:xfrm>
        </p:spPr>
        <p:txBody>
          <a:bodyPr/>
          <a:lstStyle/>
          <a:p>
            <a:pPr lvl="0"/>
            <a:endParaRPr lang="en-US" altLang="zh-CN" b="1" dirty="0"/>
          </a:p>
          <a:p>
            <a:pPr marL="0" lvl="0" indent="0">
              <a:buNone/>
            </a:pPr>
            <a:endParaRPr lang="en-US" altLang="zh-CN" b="1" dirty="0"/>
          </a:p>
          <a:p>
            <a:pPr lvl="0"/>
            <a:r>
              <a:rPr lang="en-US" altLang="zh-CN" b="1" dirty="0"/>
              <a:t>Frage</a:t>
            </a:r>
            <a:r>
              <a:rPr lang="de-DE" altLang="zh-CN" b="1" dirty="0"/>
              <a:t>:</a:t>
            </a:r>
            <a:r>
              <a:rPr lang="de-DE" altLang="zh-CN" dirty="0"/>
              <a:t> Warum entscheiden sich heutige Fabriken überwiegend für spezialisierte PCB-/Sondermaschinen plus manuelle Arbeit – und nicht für Industrieroboter?</a:t>
            </a:r>
            <a:endParaRPr lang="de-DE" altLang="zh-CN" b="1" i="0" u="none" strike="noStrike" baseline="0" dirty="0">
              <a:solidFill>
                <a:srgbClr val="4F81BD"/>
              </a:solidFill>
              <a:latin typeface="Calibri" panose="020F0502020204030204" pitchFamily="34" charset="0"/>
              <a:ea typeface="MS Gothic" panose="020B0609070205080204" pitchFamily="49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5FD88A-999E-80FC-1C45-0663B3AC5C4A}"/>
              </a:ext>
            </a:extLst>
          </p:cNvPr>
          <p:cNvSpPr/>
          <p:nvPr/>
        </p:nvSpPr>
        <p:spPr bwMode="gray">
          <a:xfrm>
            <a:off x="2063552" y="1556792"/>
            <a:ext cx="2952328" cy="2304256"/>
          </a:xfrm>
          <a:prstGeom prst="rect">
            <a:avLst/>
          </a:prstGeom>
          <a:solidFill>
            <a:schemeClr val="tx2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19C2E5-6909-4503-84E6-D8694AF8ABA9}"/>
              </a:ext>
            </a:extLst>
          </p:cNvPr>
          <p:cNvSpPr/>
          <p:nvPr/>
        </p:nvSpPr>
        <p:spPr bwMode="gray">
          <a:xfrm>
            <a:off x="6384032" y="1549946"/>
            <a:ext cx="2952328" cy="2304256"/>
          </a:xfrm>
          <a:prstGeom prst="rect">
            <a:avLst/>
          </a:prstGeom>
          <a:solidFill>
            <a:schemeClr val="tx2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0CBAEF-BB25-43B3-5463-8225CF4E39B8}"/>
              </a:ext>
            </a:extLst>
          </p:cNvPr>
          <p:cNvSpPr txBox="1"/>
          <p:nvPr/>
        </p:nvSpPr>
        <p:spPr bwMode="gray">
          <a:xfrm>
            <a:off x="2095600" y="1598513"/>
            <a:ext cx="2952328" cy="23111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de-DE" altLang="zh-CN" b="1" dirty="0"/>
              <a:t>Industrieroboter</a:t>
            </a:r>
            <a:endParaRPr lang="en-US" altLang="zh-CN" b="1" dirty="0"/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en-US" altLang="zh-CN" b="1" dirty="0"/>
              <a:t>URDF - </a:t>
            </a:r>
            <a:r>
              <a:rPr lang="en-US" altLang="zh-CN" b="1" dirty="0" err="1"/>
              <a:t>Basisdaten</a:t>
            </a:r>
            <a:endParaRPr lang="en-US" altLang="zh-CN" b="1" dirty="0"/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de-DE" altLang="zh-CN" b="1" dirty="0"/>
              <a:t>(Unified Robot Description Format)</a:t>
            </a:r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de-DE" altLang="zh-CN" b="1" dirty="0"/>
              <a:t>Simulations-Pipeline bzw. Datenbrücke</a:t>
            </a:r>
            <a:endParaRPr lang="zh-CN" altLang="en-US" sz="2650" dirty="0" err="1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CD048D4-523E-3BF1-7557-BECD1A64F403}"/>
              </a:ext>
            </a:extLst>
          </p:cNvPr>
          <p:cNvSpPr txBox="1"/>
          <p:nvPr/>
        </p:nvSpPr>
        <p:spPr bwMode="gray">
          <a:xfrm>
            <a:off x="6600056" y="1549946"/>
            <a:ext cx="2736304" cy="23111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de-DE" altLang="zh-CN" b="1" dirty="0"/>
              <a:t>Digitale Zwillinge</a:t>
            </a:r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de-DE" altLang="zh-CN" b="1" dirty="0"/>
              <a:t>AAS</a:t>
            </a:r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de-DE" altLang="zh-CN" b="1" dirty="0"/>
              <a:t>( Asset Administration Shell)</a:t>
            </a:r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de-DE" altLang="zh-CN" b="1" dirty="0"/>
              <a:t>Submodelle</a:t>
            </a:r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de-DE" altLang="zh-CN" b="1" dirty="0"/>
              <a:t>gut strukturierte</a:t>
            </a:r>
            <a:endParaRPr lang="zh-CN" altLang="en-US" sz="2650" dirty="0" err="1"/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F8A6CA90-8ECF-DFEF-B531-09FF33C3B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FBFD-255B-4948-BA80-14BD84C4B678}" type="datetime1">
              <a:rPr lang="de-DE" altLang="zh-CN" smtClean="0"/>
              <a:t>08.12.2025</a:t>
            </a:fld>
            <a:endParaRPr lang="zh-CN" altLang="en-US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238DB57A-2AF1-FDA1-1555-644FFF838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/>
              <a:t>Karlsruher Institut für Technologie (KIT)   Institut für Regelungs- und Automatisierungssysteme</a:t>
            </a:r>
            <a:endParaRPr lang="zh-CN" altLang="en-US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BA34EC54-9B6D-F980-A9EF-55ED83FDD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066F3-C2F1-4F4D-B214-666A8E8CFFD9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927F8A-E410-92FB-8D8D-AE98FE2A493B}"/>
              </a:ext>
            </a:extLst>
          </p:cNvPr>
          <p:cNvSpPr txBox="1"/>
          <p:nvPr/>
        </p:nvSpPr>
        <p:spPr bwMode="gray">
          <a:xfrm>
            <a:off x="401360" y="5804781"/>
            <a:ext cx="4680520" cy="6376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0000" indent="-180000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zh-CN" sz="4400" b="1" dirty="0" err="1"/>
              <a:t>kompliziert</a:t>
            </a:r>
            <a:endParaRPr lang="zh-CN" altLang="en-US" sz="4400" dirty="0" err="1"/>
          </a:p>
        </p:txBody>
      </p:sp>
      <p:sp>
        <p:nvSpPr>
          <p:cNvPr id="12" name="Sprechblase: rechteckig 11">
            <a:extLst>
              <a:ext uri="{FF2B5EF4-FFF2-40B4-BE49-F238E27FC236}">
                <a16:creationId xmlns:a16="http://schemas.microsoft.com/office/drawing/2014/main" id="{59D93F80-03A8-48D9-984C-E753F81A656B}"/>
              </a:ext>
            </a:extLst>
          </p:cNvPr>
          <p:cNvSpPr/>
          <p:nvPr/>
        </p:nvSpPr>
        <p:spPr bwMode="gray">
          <a:xfrm>
            <a:off x="5339916" y="3909615"/>
            <a:ext cx="1512168" cy="901067"/>
          </a:xfrm>
          <a:prstGeom prst="wedgeRectCallout">
            <a:avLst>
              <a:gd name="adj1" fmla="val -64925"/>
              <a:gd name="adj2" fmla="val 81527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Alles muss die gleiche Schriftgröße haben</a:t>
            </a:r>
            <a:endParaRPr lang="en-US" sz="1400" b="1" dirty="0">
              <a:solidFill>
                <a:srgbClr val="000000"/>
              </a:solidFill>
            </a:endParaRPr>
          </a:p>
        </p:txBody>
      </p:sp>
      <p:sp>
        <p:nvSpPr>
          <p:cNvPr id="16" name="Sprechblase: rechteckig 15">
            <a:extLst>
              <a:ext uri="{FF2B5EF4-FFF2-40B4-BE49-F238E27FC236}">
                <a16:creationId xmlns:a16="http://schemas.microsoft.com/office/drawing/2014/main" id="{D910D17D-5FEE-441A-80B6-70687B9A8F60}"/>
              </a:ext>
            </a:extLst>
          </p:cNvPr>
          <p:cNvSpPr/>
          <p:nvPr/>
        </p:nvSpPr>
        <p:spPr bwMode="gray">
          <a:xfrm>
            <a:off x="4901749" y="5386770"/>
            <a:ext cx="1512168" cy="901067"/>
          </a:xfrm>
          <a:prstGeom prst="wedgeRectCallout">
            <a:avLst>
              <a:gd name="adj1" fmla="val -128274"/>
              <a:gd name="adj2" fmla="val 39244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Warum ist das hier so komisch platziert?</a:t>
            </a:r>
            <a:endParaRPr 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399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内容占位符 9" descr="机械手 纯色填充">
            <a:extLst>
              <a:ext uri="{FF2B5EF4-FFF2-40B4-BE49-F238E27FC236}">
                <a16:creationId xmlns:a16="http://schemas.microsoft.com/office/drawing/2014/main" id="{E6EA4DB7-ED32-0FCA-8A59-B2B0938B25DF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9456" y="1722512"/>
            <a:ext cx="914400" cy="914400"/>
          </a:xfr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27980688-5B6C-781B-E57A-E41593E1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65F91"/>
                </a:solidFill>
                <a:latin typeface="Calibri" panose="020F0502020204030204" pitchFamily="34" charset="0"/>
                <a:ea typeface="MS Gothic" panose="020B0609070205080204" pitchFamily="49" charset="-128"/>
              </a:rPr>
              <a:t>Motivation-</a:t>
            </a:r>
            <a:r>
              <a:rPr lang="en-US" altLang="zh-CN" b="1" dirty="0">
                <a:solidFill>
                  <a:srgbClr val="365F91"/>
                </a:solidFill>
                <a:latin typeface="Calibri" panose="020F0502020204030204" pitchFamily="34" charset="0"/>
                <a:ea typeface="MS Gothic" panose="020B0609070205080204" pitchFamily="49" charset="-128"/>
              </a:rPr>
              <a:t> </a:t>
            </a:r>
            <a:r>
              <a:rPr lang="en-US" altLang="zh-CN" dirty="0" err="1">
                <a:solidFill>
                  <a:srgbClr val="365F91"/>
                </a:solidFill>
                <a:latin typeface="Calibri" panose="020F0502020204030204" pitchFamily="34" charset="0"/>
                <a:ea typeface="MS Gothic" panose="020B0609070205080204" pitchFamily="49" charset="-128"/>
              </a:rPr>
              <a:t>Ist-Zustand-Beschreibung</a:t>
            </a:r>
            <a:endParaRPr lang="zh-CN" altLang="en-US" dirty="0">
              <a:solidFill>
                <a:srgbClr val="365F91"/>
              </a:solidFill>
              <a:latin typeface="Calibri" panose="020F0502020204030204" pitchFamily="34" charset="0"/>
              <a:ea typeface="MS Gothic" panose="020B0609070205080204" pitchFamily="49" charset="-128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8EE5AF-2C74-4F8B-A351-F40028DE9A4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BE93FDC-B2FF-4C25-B2CC-431BC7B44C1D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FF0AEA-D7D0-A35D-75F2-E7B3FA19BB7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680319-8514-6F0D-65F7-D013440DB33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3</a:t>
            </a:fld>
            <a:endParaRPr lang="de-DE" noProof="1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73083214-BD74-A16B-1031-726EC50BBC0B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7CFAC2-93D1-84A8-3B28-23F726BF57EA}"/>
              </a:ext>
            </a:extLst>
          </p:cNvPr>
          <p:cNvSpPr/>
          <p:nvPr/>
        </p:nvSpPr>
        <p:spPr bwMode="gray">
          <a:xfrm>
            <a:off x="7282755" y="2658690"/>
            <a:ext cx="3744416" cy="1872208"/>
          </a:xfrm>
          <a:prstGeom prst="rect">
            <a:avLst/>
          </a:prstGeom>
          <a:solidFill>
            <a:schemeClr val="bg2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en-US" altLang="zh-CN" sz="4800" dirty="0"/>
              <a:t>Simulations</a:t>
            </a:r>
            <a:endParaRPr lang="zh-CN" altLang="en-US" sz="4800" b="1" dirty="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CF84068-486D-3562-AE5B-493990CCFAAA}"/>
              </a:ext>
            </a:extLst>
          </p:cNvPr>
          <p:cNvSpPr txBox="1"/>
          <p:nvPr/>
        </p:nvSpPr>
        <p:spPr bwMode="gray">
          <a:xfrm>
            <a:off x="2087680" y="1997484"/>
            <a:ext cx="2401016" cy="4823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zh-CN" sz="2650" dirty="0"/>
              <a:t>Robot</a:t>
            </a:r>
            <a:r>
              <a:rPr lang="de-DE" altLang="zh-CN" sz="2650" dirty="0"/>
              <a:t>_</a:t>
            </a:r>
            <a:r>
              <a:rPr lang="en-US" altLang="zh-CN" sz="2650" dirty="0"/>
              <a:t>1.urdf</a:t>
            </a:r>
            <a:endParaRPr lang="zh-CN" altLang="en-US" sz="2650" dirty="0" err="1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0029DC7-6698-171E-F050-D09BA53CDDC9}"/>
              </a:ext>
            </a:extLst>
          </p:cNvPr>
          <p:cNvCxnSpPr>
            <a:cxnSpLocks/>
          </p:cNvCxnSpPr>
          <p:nvPr/>
        </p:nvCxnSpPr>
        <p:spPr bwMode="gray">
          <a:xfrm>
            <a:off x="3626025" y="2179712"/>
            <a:ext cx="803292" cy="1393304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F672A1E-83CD-D80B-2F88-A1348F846EF7}"/>
              </a:ext>
            </a:extLst>
          </p:cNvPr>
          <p:cNvCxnSpPr>
            <a:cxnSpLocks/>
            <a:stCxn id="9" idx="3"/>
          </p:cNvCxnSpPr>
          <p:nvPr/>
        </p:nvCxnSpPr>
        <p:spPr bwMode="gray">
          <a:xfrm flipV="1">
            <a:off x="4322682" y="3573016"/>
            <a:ext cx="106635" cy="1864122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DEEC6D6A-1F6E-F868-0AD3-5DC78FA0EA6C}"/>
              </a:ext>
            </a:extLst>
          </p:cNvPr>
          <p:cNvSpPr txBox="1"/>
          <p:nvPr/>
        </p:nvSpPr>
        <p:spPr bwMode="gray">
          <a:xfrm>
            <a:off x="4429317" y="3359274"/>
            <a:ext cx="1644980" cy="584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zh-CN" sz="2650" dirty="0" err="1"/>
              <a:t>multi.urdf</a:t>
            </a:r>
            <a:endParaRPr lang="zh-CN" altLang="en-US" sz="2650" dirty="0" err="1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009B8A0-0CEF-2D08-18AB-27F958E852B8}"/>
              </a:ext>
            </a:extLst>
          </p:cNvPr>
          <p:cNvCxnSpPr>
            <a:cxnSpLocks/>
          </p:cNvCxnSpPr>
          <p:nvPr/>
        </p:nvCxnSpPr>
        <p:spPr bwMode="gray">
          <a:xfrm flipV="1">
            <a:off x="6094488" y="3573016"/>
            <a:ext cx="1081632" cy="6597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内容占位符 9" descr="机械手 纯色填充">
            <a:extLst>
              <a:ext uri="{FF2B5EF4-FFF2-40B4-BE49-F238E27FC236}">
                <a16:creationId xmlns:a16="http://schemas.microsoft.com/office/drawing/2014/main" id="{DC679070-6D4A-E4A5-EAE4-C08F55A5A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1160745" y="4780633"/>
            <a:ext cx="914400" cy="9144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C166234-B021-50E0-8611-4A2DDFEE40F1}"/>
              </a:ext>
            </a:extLst>
          </p:cNvPr>
          <p:cNvSpPr txBox="1"/>
          <p:nvPr/>
        </p:nvSpPr>
        <p:spPr bwMode="gray">
          <a:xfrm>
            <a:off x="2095611" y="5195962"/>
            <a:ext cx="2227071" cy="4823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zh-CN" sz="2650" dirty="0" err="1"/>
              <a:t>Robot_n.urdf</a:t>
            </a:r>
            <a:endParaRPr lang="zh-CN" altLang="en-US" sz="2650" dirty="0" err="1"/>
          </a:p>
        </p:txBody>
      </p:sp>
      <p:pic>
        <p:nvPicPr>
          <p:cNvPr id="17" name="内容占位符 9" descr="机械手 纯色填充">
            <a:extLst>
              <a:ext uri="{FF2B5EF4-FFF2-40B4-BE49-F238E27FC236}">
                <a16:creationId xmlns:a16="http://schemas.microsoft.com/office/drawing/2014/main" id="{06462354-B9BB-E610-4E40-32B8CF9D57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1160745" y="2629024"/>
            <a:ext cx="914400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5EAACA55-C0AE-E01E-1A89-3ED09107E0E5}"/>
              </a:ext>
            </a:extLst>
          </p:cNvPr>
          <p:cNvSpPr txBox="1"/>
          <p:nvPr/>
        </p:nvSpPr>
        <p:spPr bwMode="gray">
          <a:xfrm>
            <a:off x="2134936" y="2879786"/>
            <a:ext cx="2401016" cy="6636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zh-CN" sz="2650" dirty="0"/>
              <a:t>Robot_2.urdf</a:t>
            </a:r>
            <a:endParaRPr lang="zh-CN" altLang="en-US" sz="2650" dirty="0" err="1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1885653-588C-8D4D-4F52-339D10A898BC}"/>
              </a:ext>
            </a:extLst>
          </p:cNvPr>
          <p:cNvSpPr txBox="1"/>
          <p:nvPr/>
        </p:nvSpPr>
        <p:spPr bwMode="gray">
          <a:xfrm flipH="1">
            <a:off x="3289773" y="3630901"/>
            <a:ext cx="178948" cy="1498352"/>
          </a:xfrm>
          <a:prstGeom prst="rect">
            <a:avLst/>
          </a:prstGeom>
          <a:noFill/>
        </p:spPr>
        <p:txBody>
          <a:bodyPr vert="eaVert"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endParaRPr lang="en-US" altLang="zh-CN" sz="2650" dirty="0"/>
          </a:p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endParaRPr lang="en-US" altLang="zh-CN" sz="2650" dirty="0"/>
          </a:p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endParaRPr lang="en-US" altLang="zh-CN" sz="2650" dirty="0"/>
          </a:p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en-US" altLang="zh-CN" sz="2650" dirty="0"/>
              <a:t>………..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06CFE3-6079-1949-E2C2-C6275D804D71}"/>
              </a:ext>
            </a:extLst>
          </p:cNvPr>
          <p:cNvSpPr/>
          <p:nvPr/>
        </p:nvSpPr>
        <p:spPr bwMode="gray">
          <a:xfrm>
            <a:off x="869154" y="1768719"/>
            <a:ext cx="3483266" cy="4650156"/>
          </a:xfrm>
          <a:prstGeom prst="rect">
            <a:avLst/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10677D4-375A-F320-A700-198C1CFFC053}"/>
              </a:ext>
            </a:extLst>
          </p:cNvPr>
          <p:cNvSpPr txBox="1"/>
          <p:nvPr/>
        </p:nvSpPr>
        <p:spPr bwMode="gray">
          <a:xfrm>
            <a:off x="1391564" y="5922752"/>
            <a:ext cx="2875926" cy="3988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0000" indent="-180000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zh-CN" sz="2650" dirty="0"/>
              <a:t>Robot Controller</a:t>
            </a:r>
            <a:endParaRPr lang="zh-CN" altLang="en-US" sz="2650" dirty="0" err="1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8B06D12-6936-D28E-A6D1-10A46BA99742}"/>
              </a:ext>
            </a:extLst>
          </p:cNvPr>
          <p:cNvCxnSpPr>
            <a:cxnSpLocks/>
          </p:cNvCxnSpPr>
          <p:nvPr/>
        </p:nvCxnSpPr>
        <p:spPr bwMode="gray">
          <a:xfrm>
            <a:off x="4334506" y="4855460"/>
            <a:ext cx="914400" cy="914400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2F4E1B1B-D155-D1A7-A46A-9431E72B2089}"/>
              </a:ext>
            </a:extLst>
          </p:cNvPr>
          <p:cNvSpPr/>
          <p:nvPr/>
        </p:nvSpPr>
        <p:spPr bwMode="gray">
          <a:xfrm>
            <a:off x="5248906" y="5695033"/>
            <a:ext cx="1694190" cy="626529"/>
          </a:xfrm>
          <a:prstGeom prst="rect">
            <a:avLst/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altLang="zh-C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OPC UA</a:t>
            </a:r>
            <a:endParaRPr lang="zh-CN" altLang="en-US" sz="2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311A7535-3C8B-625A-8B4D-05C9520C918F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 bwMode="gray">
          <a:xfrm flipV="1">
            <a:off x="6943096" y="5813226"/>
            <a:ext cx="1377615" cy="195072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9BD44390-7FA2-2C46-C9F1-CB5145570C61}"/>
              </a:ext>
            </a:extLst>
          </p:cNvPr>
          <p:cNvSpPr txBox="1"/>
          <p:nvPr/>
        </p:nvSpPr>
        <p:spPr bwMode="gray">
          <a:xfrm>
            <a:off x="8320711" y="5331204"/>
            <a:ext cx="2088232" cy="9640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en-US" altLang="zh-CN" sz="2800" dirty="0"/>
              <a:t>Digital Shadow</a:t>
            </a:r>
            <a:endParaRPr lang="zh-CN" altLang="en-US" sz="2650" dirty="0" err="1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2CF1B1E9-659B-984E-22E7-4E45212388E8}"/>
              </a:ext>
            </a:extLst>
          </p:cNvPr>
          <p:cNvCxnSpPr>
            <a:stCxn id="30" idx="0"/>
            <a:endCxn id="8" idx="2"/>
          </p:cNvCxnSpPr>
          <p:nvPr/>
        </p:nvCxnSpPr>
        <p:spPr bwMode="gray">
          <a:xfrm flipV="1">
            <a:off x="9364827" y="4530898"/>
            <a:ext cx="0" cy="800306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prechblase: rechteckig 26">
            <a:extLst>
              <a:ext uri="{FF2B5EF4-FFF2-40B4-BE49-F238E27FC236}">
                <a16:creationId xmlns:a16="http://schemas.microsoft.com/office/drawing/2014/main" id="{D44132A3-B73B-41A1-88DA-3D99D97022A4}"/>
              </a:ext>
            </a:extLst>
          </p:cNvPr>
          <p:cNvSpPr/>
          <p:nvPr/>
        </p:nvSpPr>
        <p:spPr bwMode="gray">
          <a:xfrm>
            <a:off x="5339916" y="3909615"/>
            <a:ext cx="1512168" cy="901067"/>
          </a:xfrm>
          <a:prstGeom prst="wedgeRectCallout">
            <a:avLst>
              <a:gd name="adj1" fmla="val -72124"/>
              <a:gd name="adj2" fmla="val 96024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Linien kann man nicht erkennen</a:t>
            </a:r>
            <a:endParaRPr lang="en-US" sz="1400" b="1" dirty="0">
              <a:solidFill>
                <a:srgbClr val="000000"/>
              </a:solidFill>
            </a:endParaRPr>
          </a:p>
        </p:txBody>
      </p:sp>
      <p:sp>
        <p:nvSpPr>
          <p:cNvPr id="28" name="Sprechblase: rechteckig 27">
            <a:extLst>
              <a:ext uri="{FF2B5EF4-FFF2-40B4-BE49-F238E27FC236}">
                <a16:creationId xmlns:a16="http://schemas.microsoft.com/office/drawing/2014/main" id="{DF3BA050-E81E-49FA-81D2-A58F25F4895A}"/>
              </a:ext>
            </a:extLst>
          </p:cNvPr>
          <p:cNvSpPr/>
          <p:nvPr/>
        </p:nvSpPr>
        <p:spPr bwMode="gray">
          <a:xfrm>
            <a:off x="4715618" y="1787598"/>
            <a:ext cx="1512168" cy="901067"/>
          </a:xfrm>
          <a:prstGeom prst="wedgeRectCallout">
            <a:avLst>
              <a:gd name="adj1" fmla="val -146271"/>
              <a:gd name="adj2" fmla="val 198712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Warum so viel frei?</a:t>
            </a:r>
            <a:endParaRPr lang="en-US" sz="1400" b="1" dirty="0">
              <a:solidFill>
                <a:srgbClr val="000000"/>
              </a:solidFill>
            </a:endParaRPr>
          </a:p>
        </p:txBody>
      </p:sp>
      <p:sp>
        <p:nvSpPr>
          <p:cNvPr id="31" name="Sprechblase: rechteckig 30">
            <a:extLst>
              <a:ext uri="{FF2B5EF4-FFF2-40B4-BE49-F238E27FC236}">
                <a16:creationId xmlns:a16="http://schemas.microsoft.com/office/drawing/2014/main" id="{B7E84C53-280A-414B-AAD9-9E157DF4632E}"/>
              </a:ext>
            </a:extLst>
          </p:cNvPr>
          <p:cNvSpPr/>
          <p:nvPr/>
        </p:nvSpPr>
        <p:spPr bwMode="gray">
          <a:xfrm>
            <a:off x="9154963" y="1174339"/>
            <a:ext cx="1512168" cy="901067"/>
          </a:xfrm>
          <a:prstGeom prst="wedgeRectCallout">
            <a:avLst>
              <a:gd name="adj1" fmla="val -32531"/>
              <a:gd name="adj2" fmla="val 146764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Füg hier doch schonmal ein Bild ein</a:t>
            </a:r>
            <a:endParaRPr lang="en-US" sz="1400" b="1" dirty="0">
              <a:solidFill>
                <a:srgbClr val="000000"/>
              </a:solidFill>
            </a:endParaRPr>
          </a:p>
        </p:txBody>
      </p:sp>
      <p:sp>
        <p:nvSpPr>
          <p:cNvPr id="32" name="Sprechblase: rechteckig 31">
            <a:extLst>
              <a:ext uri="{FF2B5EF4-FFF2-40B4-BE49-F238E27FC236}">
                <a16:creationId xmlns:a16="http://schemas.microsoft.com/office/drawing/2014/main" id="{56AEAC48-2D7B-4278-92DB-31FD1C2AA756}"/>
              </a:ext>
            </a:extLst>
          </p:cNvPr>
          <p:cNvSpPr/>
          <p:nvPr/>
        </p:nvSpPr>
        <p:spPr bwMode="gray">
          <a:xfrm>
            <a:off x="6536938" y="1248729"/>
            <a:ext cx="2223358" cy="1409962"/>
          </a:xfrm>
          <a:prstGeom prst="wedgeRectCallout">
            <a:avLst>
              <a:gd name="adj1" fmla="val -69318"/>
              <a:gd name="adj2" fmla="val 98724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In deinem gesamten Vortrag ist kein URDF gezeigt obwohl es ein so wichtiger Bestandteil ist.</a:t>
            </a:r>
            <a:endParaRPr 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0633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9" grpId="0"/>
      <p:bldP spid="18" grpId="0"/>
      <p:bldP spid="19" grpId="0"/>
      <p:bldP spid="11" grpId="0" animBg="1"/>
      <p:bldP spid="20" grpId="0"/>
      <p:bldP spid="26" grpId="0" animBg="1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7257E81-8C49-5B01-DA3D-F7062498D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68907"/>
            <a:ext cx="11449050" cy="827845"/>
          </a:xfrm>
        </p:spPr>
        <p:txBody>
          <a:bodyPr/>
          <a:lstStyle/>
          <a:p>
            <a:r>
              <a:rPr lang="en-US" altLang="zh-CN" dirty="0">
                <a:solidFill>
                  <a:srgbClr val="365F91"/>
                </a:solidFill>
                <a:latin typeface="Calibri" panose="020F0502020204030204" pitchFamily="34" charset="0"/>
                <a:ea typeface="MS Gothic" panose="020B0609070205080204" pitchFamily="49" charset="-128"/>
              </a:rPr>
              <a:t>Motivation- Ziel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718451-A618-0874-96BA-E0C772EBD84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E2611C38-87E7-4C37-8C30-A96F30741F31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D2C9E8-D9E7-6FEE-5868-97CF66FAC2B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B16DAB-9F47-D497-2BB0-8CBC788F1BA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4</a:t>
            </a:fld>
            <a:endParaRPr lang="de-DE" noProof="1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85432050-F14E-2DC6-2A33-7D7641F437D5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3F78A1-5B4A-04E7-2F1E-E8AA319FCCA8}"/>
              </a:ext>
            </a:extLst>
          </p:cNvPr>
          <p:cNvSpPr/>
          <p:nvPr/>
        </p:nvSpPr>
        <p:spPr bwMode="gray">
          <a:xfrm>
            <a:off x="7396119" y="1863068"/>
            <a:ext cx="3744416" cy="1872208"/>
          </a:xfrm>
          <a:prstGeom prst="rect">
            <a:avLst/>
          </a:prstGeom>
          <a:solidFill>
            <a:schemeClr val="bg2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en-US" altLang="zh-CN" sz="4800" dirty="0"/>
              <a:t>Simulations</a:t>
            </a:r>
            <a:endParaRPr lang="zh-CN" altLang="en-US" sz="4800" b="1" dirty="0">
              <a:solidFill>
                <a:schemeClr val="bg1"/>
              </a:solidFill>
            </a:endParaRPr>
          </a:p>
        </p:txBody>
      </p:sp>
      <p:pic>
        <p:nvPicPr>
          <p:cNvPr id="9" name="内容占位符 9" descr="机械手 纯色填充">
            <a:extLst>
              <a:ext uri="{FF2B5EF4-FFF2-40B4-BE49-F238E27FC236}">
                <a16:creationId xmlns:a16="http://schemas.microsoft.com/office/drawing/2014/main" id="{A746DC6B-F165-2141-7B33-FD589AA16C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981797" y="4807570"/>
            <a:ext cx="914400" cy="9144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E300C81-7436-B3DA-34FA-CAA4D84A6EE4}"/>
              </a:ext>
            </a:extLst>
          </p:cNvPr>
          <p:cNvSpPr txBox="1"/>
          <p:nvPr/>
        </p:nvSpPr>
        <p:spPr bwMode="gray">
          <a:xfrm>
            <a:off x="1947676" y="1957585"/>
            <a:ext cx="2132100" cy="4823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zh-CN" sz="2650" dirty="0"/>
              <a:t>Robot1.urdf</a:t>
            </a:r>
            <a:endParaRPr lang="zh-CN" altLang="en-US" sz="2650" dirty="0" err="1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A557598-F5F1-6CC9-860A-CB6C52D46A7B}"/>
              </a:ext>
            </a:extLst>
          </p:cNvPr>
          <p:cNvSpPr txBox="1"/>
          <p:nvPr/>
        </p:nvSpPr>
        <p:spPr bwMode="gray">
          <a:xfrm>
            <a:off x="1916663" y="5222899"/>
            <a:ext cx="1979771" cy="4823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zh-CN" sz="2650" dirty="0" err="1"/>
              <a:t>Robotn.urdf</a:t>
            </a:r>
            <a:endParaRPr lang="zh-CN" altLang="en-US" sz="2650" dirty="0" err="1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AF181CE-CF05-F41D-2431-DCCC3DD068FD}"/>
              </a:ext>
            </a:extLst>
          </p:cNvPr>
          <p:cNvSpPr txBox="1"/>
          <p:nvPr/>
        </p:nvSpPr>
        <p:spPr bwMode="gray">
          <a:xfrm>
            <a:off x="4451403" y="3376476"/>
            <a:ext cx="1644598" cy="4823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zh-CN" sz="2650" dirty="0" err="1"/>
              <a:t>multi.urdf</a:t>
            </a:r>
            <a:endParaRPr lang="zh-CN" altLang="en-US" sz="2650" dirty="0" err="1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D04F10C-E2E4-B991-095C-9028AA373D90}"/>
              </a:ext>
            </a:extLst>
          </p:cNvPr>
          <p:cNvCxnSpPr>
            <a:cxnSpLocks/>
            <a:stCxn id="14" idx="3"/>
          </p:cNvCxnSpPr>
          <p:nvPr/>
        </p:nvCxnSpPr>
        <p:spPr bwMode="gray">
          <a:xfrm flipV="1">
            <a:off x="6096001" y="3024090"/>
            <a:ext cx="1300118" cy="593562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内容占位符 9" descr="机械手 纯色填充">
            <a:extLst>
              <a:ext uri="{FF2B5EF4-FFF2-40B4-BE49-F238E27FC236}">
                <a16:creationId xmlns:a16="http://schemas.microsoft.com/office/drawing/2014/main" id="{9228E700-55F9-E1C2-D3A1-EF64A43FB9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1051465" y="1741561"/>
            <a:ext cx="914400" cy="914400"/>
          </a:xfrm>
          <a:prstGeom prst="rect">
            <a:avLst/>
          </a:prstGeom>
        </p:spPr>
      </p:pic>
      <p:pic>
        <p:nvPicPr>
          <p:cNvPr id="19" name="内容占位符 9" descr="机械手 纯色填充">
            <a:extLst>
              <a:ext uri="{FF2B5EF4-FFF2-40B4-BE49-F238E27FC236}">
                <a16:creationId xmlns:a16="http://schemas.microsoft.com/office/drawing/2014/main" id="{1FA97B38-FD9F-586F-0CAE-EA2062569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981797" y="2655961"/>
            <a:ext cx="914400" cy="9144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FFF53C6-AE50-5C48-C31D-648C8E3964FE}"/>
              </a:ext>
            </a:extLst>
          </p:cNvPr>
          <p:cNvSpPr txBox="1"/>
          <p:nvPr/>
        </p:nvSpPr>
        <p:spPr bwMode="gray">
          <a:xfrm>
            <a:off x="1955988" y="2906724"/>
            <a:ext cx="1979772" cy="4823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zh-CN" sz="2650" dirty="0"/>
              <a:t>Robot2.urdf</a:t>
            </a:r>
            <a:endParaRPr lang="zh-CN" altLang="en-US" sz="2650" dirty="0" err="1"/>
          </a:p>
        </p:txBody>
      </p:sp>
      <p:sp>
        <p:nvSpPr>
          <p:cNvPr id="31" name="云形 30">
            <a:extLst>
              <a:ext uri="{FF2B5EF4-FFF2-40B4-BE49-F238E27FC236}">
                <a16:creationId xmlns:a16="http://schemas.microsoft.com/office/drawing/2014/main" id="{25C68BA0-2EDD-D7CF-685B-D0416E9DC55E}"/>
              </a:ext>
            </a:extLst>
          </p:cNvPr>
          <p:cNvSpPr/>
          <p:nvPr/>
        </p:nvSpPr>
        <p:spPr bwMode="gray">
          <a:xfrm>
            <a:off x="4131730" y="451006"/>
            <a:ext cx="2796607" cy="1503582"/>
          </a:xfrm>
          <a:prstGeom prst="cloud">
            <a:avLst/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AAS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4AD246A-AD40-3007-F701-CB3714DAF917}"/>
              </a:ext>
            </a:extLst>
          </p:cNvPr>
          <p:cNvSpPr txBox="1"/>
          <p:nvPr/>
        </p:nvSpPr>
        <p:spPr bwMode="gray">
          <a:xfrm>
            <a:off x="1415480" y="3645024"/>
            <a:ext cx="2031597" cy="1498352"/>
          </a:xfrm>
          <a:prstGeom prst="rect">
            <a:avLst/>
          </a:prstGeom>
          <a:noFill/>
        </p:spPr>
        <p:txBody>
          <a:bodyPr vert="eaVert"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endParaRPr lang="en-US" altLang="zh-CN" sz="2650" dirty="0"/>
          </a:p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endParaRPr lang="en-US" altLang="zh-CN" sz="2650" dirty="0"/>
          </a:p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endParaRPr lang="en-US" altLang="zh-CN" sz="2650" dirty="0"/>
          </a:p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en-US" altLang="zh-CN" sz="2650" dirty="0"/>
              <a:t>………..</a:t>
            </a:r>
          </a:p>
        </p:txBody>
      </p:sp>
      <p:sp>
        <p:nvSpPr>
          <p:cNvPr id="40" name="箭头: 圆角右 39">
            <a:extLst>
              <a:ext uri="{FF2B5EF4-FFF2-40B4-BE49-F238E27FC236}">
                <a16:creationId xmlns:a16="http://schemas.microsoft.com/office/drawing/2014/main" id="{1DEC604B-43BE-E793-8F97-1524891DC708}"/>
              </a:ext>
            </a:extLst>
          </p:cNvPr>
          <p:cNvSpPr/>
          <p:nvPr/>
        </p:nvSpPr>
        <p:spPr bwMode="gray">
          <a:xfrm>
            <a:off x="2567608" y="948716"/>
            <a:ext cx="1328826" cy="1005871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accent4"/>
          </a:solidFill>
          <a:ln w="31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41" name="箭头: 下 40">
            <a:extLst>
              <a:ext uri="{FF2B5EF4-FFF2-40B4-BE49-F238E27FC236}">
                <a16:creationId xmlns:a16="http://schemas.microsoft.com/office/drawing/2014/main" id="{61EFF66E-6DD8-3676-9F27-928E342D1E87}"/>
              </a:ext>
            </a:extLst>
          </p:cNvPr>
          <p:cNvSpPr/>
          <p:nvPr/>
        </p:nvSpPr>
        <p:spPr bwMode="gray">
          <a:xfrm>
            <a:off x="5015880" y="2132856"/>
            <a:ext cx="785663" cy="1024633"/>
          </a:xfrm>
          <a:prstGeom prst="downArrow">
            <a:avLst/>
          </a:prstGeom>
          <a:solidFill>
            <a:schemeClr val="accent4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BFAEEF2-A524-A903-A343-9EFBB603423F}"/>
              </a:ext>
            </a:extLst>
          </p:cNvPr>
          <p:cNvSpPr txBox="1"/>
          <p:nvPr/>
        </p:nvSpPr>
        <p:spPr bwMode="gray">
          <a:xfrm>
            <a:off x="4871864" y="4293097"/>
            <a:ext cx="5616624" cy="4823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0000" indent="-180000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de-DE" altLang="zh-CN" sz="2000" dirty="0"/>
              <a:t>ein automatisiertes System zu entwickeln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6C131FE-D21B-CD8B-F5CC-8BD92C5A1589}"/>
              </a:ext>
            </a:extLst>
          </p:cNvPr>
          <p:cNvSpPr txBox="1"/>
          <p:nvPr/>
        </p:nvSpPr>
        <p:spPr bwMode="gray">
          <a:xfrm>
            <a:off x="5015880" y="5013176"/>
            <a:ext cx="5616624" cy="1439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457200" indent="-457200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altLang="zh-CN" sz="2800" dirty="0"/>
              <a:t>Asset Administration Shell (AAS)</a:t>
            </a:r>
          </a:p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endParaRPr lang="zh-CN" altLang="en-US" sz="2650" dirty="0" err="1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AC8D4F5-AA74-1D4D-7A7D-918BB9B38239}"/>
              </a:ext>
            </a:extLst>
          </p:cNvPr>
          <p:cNvSpPr txBox="1"/>
          <p:nvPr/>
        </p:nvSpPr>
        <p:spPr bwMode="gray">
          <a:xfrm>
            <a:off x="5015880" y="5515964"/>
            <a:ext cx="5616624" cy="1439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457200" indent="-457200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altLang="zh-CN" sz="2800" dirty="0"/>
              <a:t>URDF-</a:t>
            </a:r>
            <a:r>
              <a:rPr lang="en-US" altLang="zh-CN" sz="2800" dirty="0" err="1"/>
              <a:t>Abbildung</a:t>
            </a:r>
            <a:endParaRPr lang="en-US" altLang="zh-CN" sz="2800" dirty="0"/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endParaRPr lang="en-US" altLang="zh-CN" sz="2800" dirty="0"/>
          </a:p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endParaRPr lang="zh-CN" altLang="en-US" sz="2650" dirty="0" err="1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1CB4243-2DD5-6D6B-A9AC-E93023DE7263}"/>
              </a:ext>
            </a:extLst>
          </p:cNvPr>
          <p:cNvSpPr txBox="1"/>
          <p:nvPr/>
        </p:nvSpPr>
        <p:spPr bwMode="gray">
          <a:xfrm>
            <a:off x="5015880" y="6023345"/>
            <a:ext cx="5616624" cy="3836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Multi-</a:t>
            </a:r>
            <a:r>
              <a:rPr lang="en-US" altLang="zh-CN" sz="2800" dirty="0" err="1"/>
              <a:t>Roboter</a:t>
            </a:r>
            <a:r>
              <a:rPr lang="en-US" altLang="zh-CN" sz="2800" dirty="0"/>
              <a:t>-</a:t>
            </a:r>
            <a:r>
              <a:rPr lang="en-US" altLang="zh-CN" sz="2800" dirty="0" err="1"/>
              <a:t>Systemintegration</a:t>
            </a:r>
            <a:endParaRPr lang="en-US" altLang="zh-CN" sz="2800" dirty="0"/>
          </a:p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endParaRPr lang="zh-CN" altLang="en-US" sz="2650" dirty="0" err="1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B4B66B3-BCAC-DA41-03CC-EC746A7BEA36}"/>
              </a:ext>
            </a:extLst>
          </p:cNvPr>
          <p:cNvSpPr/>
          <p:nvPr/>
        </p:nvSpPr>
        <p:spPr bwMode="gray">
          <a:xfrm>
            <a:off x="1051465" y="1863068"/>
            <a:ext cx="3080265" cy="4046216"/>
          </a:xfrm>
          <a:prstGeom prst="rect">
            <a:avLst/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25" name="Sprechblase: rechteckig 24">
            <a:extLst>
              <a:ext uri="{FF2B5EF4-FFF2-40B4-BE49-F238E27FC236}">
                <a16:creationId xmlns:a16="http://schemas.microsoft.com/office/drawing/2014/main" id="{EADB2F44-0595-4BBA-BF17-B2D636A70606}"/>
              </a:ext>
            </a:extLst>
          </p:cNvPr>
          <p:cNvSpPr/>
          <p:nvPr/>
        </p:nvSpPr>
        <p:spPr bwMode="gray">
          <a:xfrm>
            <a:off x="5955079" y="4765681"/>
            <a:ext cx="1836204" cy="1075406"/>
          </a:xfrm>
          <a:prstGeom prst="wedgeRectCallout">
            <a:avLst>
              <a:gd name="adj1" fmla="val -20547"/>
              <a:gd name="adj2" fmla="val -142865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Änderung nicht ersichtlich, da Linien zu klein sind</a:t>
            </a:r>
            <a:endParaRPr 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8592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40" grpId="0" animBg="1"/>
      <p:bldP spid="41" grpId="0" animBg="1"/>
      <p:bldP spid="2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45D57-0F85-AB23-67C6-9394092C0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/>
              <a:t>Ansatz – 1. Vorstudien / Grundlage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564C11-72A7-F93C-AEB9-5E4797BCB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8B6D-5524-40E9-A6EE-431D12C318F5}" type="datetime1">
              <a:rPr lang="de-DE" altLang="zh-CN" smtClean="0"/>
              <a:t>08.12.2025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4D345D-79CA-4DB9-7546-C585B0A5C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/>
              <a:t>Karlsruher Institut für Technologie (KIT)   Institut für Regelungs- und Automatisierungssysteme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D02B05-5895-D4DE-1388-9F8303A6E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066F3-C2F1-4F4D-B214-666A8E8CFFD9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DBEDDA4-30EB-B3C0-099F-C50F3D34DE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05656" y="1001635"/>
            <a:ext cx="685315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URDF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Unified Robot Description Format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(URDF) – Roboterbeschreibungsformat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AAS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Asset Administration Shell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Verwaltungsschale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zh-CN" sz="1600" b="1" dirty="0"/>
              <a:t>Submodell</a:t>
            </a:r>
            <a:r>
              <a:rPr lang="de-DE" altLang="zh-CN" sz="1600" dirty="0"/>
              <a:t>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zh-CN" sz="1600" dirty="0"/>
              <a:t>Teilmodell der AAS (enthält strukturierte Informationen eines Assets)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Universal Robots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(UR) – UR-Roboter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IGUS Re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IGUS ReBeL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Leichtbau-Roboter von igus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xacro tools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xacro-Werkzeuge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Tools zum Expandieren von Xacro-Dateien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YAML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YAML-Datei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YAML-Konfigurationsformat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dae und stl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DAE- und STL-Dateien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Mesh-Formate für Visualisierung und Kollision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JSON-Datei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Datenformat JSON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600" b="1" dirty="0">
                <a:latin typeface="Arial" panose="020B0604020202020204" pitchFamily="34" charset="0"/>
              </a:rPr>
              <a:t>xacro</a:t>
            </a:r>
            <a:br>
              <a:rPr lang="zh-CN" altLang="zh-CN" sz="1600" dirty="0">
                <a:latin typeface="Arial" panose="020B0604020202020204" pitchFamily="34" charset="0"/>
              </a:rPr>
            </a:br>
            <a:r>
              <a:rPr lang="zh-CN" altLang="zh-CN" sz="1600" i="1" dirty="0">
                <a:latin typeface="Arial" panose="020B0604020202020204" pitchFamily="34" charset="0"/>
              </a:rPr>
              <a:t>xacro</a:t>
            </a:r>
            <a:r>
              <a:rPr lang="zh-CN" altLang="zh-CN" sz="1600" dirty="0">
                <a:latin typeface="Arial" panose="020B0604020202020204" pitchFamily="34" charset="0"/>
              </a:rPr>
              <a:t> – XML-Makrosprache zur Generierung von URDF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Sprechblase: rechteckig 6">
            <a:extLst>
              <a:ext uri="{FF2B5EF4-FFF2-40B4-BE49-F238E27FC236}">
                <a16:creationId xmlns:a16="http://schemas.microsoft.com/office/drawing/2014/main" id="{74C3D06B-5B4D-43D6-8D87-D8D40C21C034}"/>
              </a:ext>
            </a:extLst>
          </p:cNvPr>
          <p:cNvSpPr/>
          <p:nvPr/>
        </p:nvSpPr>
        <p:spPr bwMode="gray">
          <a:xfrm>
            <a:off x="8577500" y="908720"/>
            <a:ext cx="1622955" cy="1550903"/>
          </a:xfrm>
          <a:prstGeom prst="wedgeRectCallout">
            <a:avLst>
              <a:gd name="adj1" fmla="val -64925"/>
              <a:gd name="adj2" fmla="val 81527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Hier weis ich nicht was du aussagen willst, aber an sich ist das zu viel Text</a:t>
            </a:r>
            <a:endParaRPr lang="en-US" sz="1400" b="1" dirty="0">
              <a:solidFill>
                <a:srgbClr val="000000"/>
              </a:solidFill>
            </a:endParaRPr>
          </a:p>
        </p:txBody>
      </p:sp>
      <p:sp>
        <p:nvSpPr>
          <p:cNvPr id="9" name="Sprechblase: rechteckig 8">
            <a:extLst>
              <a:ext uri="{FF2B5EF4-FFF2-40B4-BE49-F238E27FC236}">
                <a16:creationId xmlns:a16="http://schemas.microsoft.com/office/drawing/2014/main" id="{6F9CA66A-D43F-4982-B8EB-393ED163D2D1}"/>
              </a:ext>
            </a:extLst>
          </p:cNvPr>
          <p:cNvSpPr/>
          <p:nvPr/>
        </p:nvSpPr>
        <p:spPr bwMode="gray">
          <a:xfrm>
            <a:off x="9411025" y="2999436"/>
            <a:ext cx="1622955" cy="1550903"/>
          </a:xfrm>
          <a:prstGeom prst="wedgeRectCallout">
            <a:avLst>
              <a:gd name="adj1" fmla="val -239316"/>
              <a:gd name="adj2" fmla="val -119917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 </a:t>
            </a:r>
            <a:endParaRPr 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998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36B392F-8428-6CBF-7366-F3D9024BED28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de-DE" altLang="zh-CN" b="1" dirty="0"/>
              <a:t>Fokus liegt nur auf Modellierung</a:t>
            </a:r>
            <a:endParaRPr lang="zh-CN" altLang="zh-CN" b="1" dirty="0"/>
          </a:p>
          <a:p>
            <a:r>
              <a:rPr lang="de-DE" altLang="zh-CN" b="1" dirty="0"/>
              <a:t>Nicht Teil dieser Arbeit:</a:t>
            </a:r>
            <a:endParaRPr lang="zh-CN" altLang="zh-CN" b="1" dirty="0"/>
          </a:p>
          <a:p>
            <a:r>
              <a:rPr lang="de-DE" altLang="zh-CN" b="1" dirty="0"/>
              <a:t>Robotersteuerung</a:t>
            </a:r>
            <a:endParaRPr lang="zh-CN" altLang="zh-CN" b="1" dirty="0"/>
          </a:p>
          <a:p>
            <a:r>
              <a:rPr lang="de-DE" altLang="zh-CN" b="1" dirty="0"/>
              <a:t>Bewegungsplanung</a:t>
            </a:r>
            <a:endParaRPr lang="zh-CN" altLang="zh-CN" b="1" dirty="0"/>
          </a:p>
          <a:p>
            <a:r>
              <a:rPr lang="de-DE" altLang="zh-CN" b="1" dirty="0"/>
              <a:t>Echtzeit-Systeme</a:t>
            </a:r>
            <a:endParaRPr lang="zh-CN" altLang="zh-CN" b="1" dirty="0"/>
          </a:p>
          <a:p>
            <a:r>
              <a:rPr lang="de-DE" altLang="zh-CN" b="1" dirty="0"/>
              <a:t>Industrielle Kommunikation</a:t>
            </a:r>
            <a:endParaRPr lang="zh-CN" altLang="zh-CN" b="1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604C28E-1CBC-835E-8B88-CFA9EBFB1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Ansatz - </a:t>
            </a:r>
            <a:r>
              <a:rPr lang="de-DE" altLang="zh-CN" b="1" dirty="0"/>
              <a:t>2. Abgrenzung</a:t>
            </a:r>
            <a:br>
              <a:rPr lang="zh-CN" altLang="zh-CN" b="1" dirty="0"/>
            </a:b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80C5E7-DA9B-5103-A04B-844B045868C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99986C6-EDDA-4A01-AB14-BD39610509EB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0FAF5E-8EE8-D506-2C77-11182DF661C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EDEF06-B3D1-F5F6-7992-A9E44B6AC6B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6</a:t>
            </a:fld>
            <a:endParaRPr lang="de-DE" noProof="1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6D5C0CA-F6FA-2203-2511-AC5F3B1FC8F6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prechblase: rechteckig 7">
            <a:extLst>
              <a:ext uri="{FF2B5EF4-FFF2-40B4-BE49-F238E27FC236}">
                <a16:creationId xmlns:a16="http://schemas.microsoft.com/office/drawing/2014/main" id="{1BA09260-75A3-4FF8-B6F4-D6AE529FBE77}"/>
              </a:ext>
            </a:extLst>
          </p:cNvPr>
          <p:cNvSpPr/>
          <p:nvPr/>
        </p:nvSpPr>
        <p:spPr bwMode="gray">
          <a:xfrm>
            <a:off x="6456040" y="1546247"/>
            <a:ext cx="1512168" cy="901067"/>
          </a:xfrm>
          <a:prstGeom prst="wedgeRectCallout">
            <a:avLst>
              <a:gd name="adj1" fmla="val 73291"/>
              <a:gd name="adj2" fmla="val 219249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Zu viel freie Fläche</a:t>
            </a:r>
            <a:endParaRPr lang="en-US" sz="1400" b="1" dirty="0">
              <a:solidFill>
                <a:srgbClr val="000000"/>
              </a:solidFill>
            </a:endParaRPr>
          </a:p>
        </p:txBody>
      </p:sp>
      <p:sp>
        <p:nvSpPr>
          <p:cNvPr id="9" name="Sprechblase: rechteckig 8">
            <a:extLst>
              <a:ext uri="{FF2B5EF4-FFF2-40B4-BE49-F238E27FC236}">
                <a16:creationId xmlns:a16="http://schemas.microsoft.com/office/drawing/2014/main" id="{97EC3666-1190-4312-897A-122FE025755A}"/>
              </a:ext>
            </a:extLst>
          </p:cNvPr>
          <p:cNvSpPr/>
          <p:nvPr/>
        </p:nvSpPr>
        <p:spPr bwMode="gray">
          <a:xfrm>
            <a:off x="5519936" y="4221088"/>
            <a:ext cx="1512168" cy="901067"/>
          </a:xfrm>
          <a:prstGeom prst="wedgeRectCallout">
            <a:avLst>
              <a:gd name="adj1" fmla="val -89401"/>
              <a:gd name="adj2" fmla="val -112976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Warum fett?</a:t>
            </a:r>
            <a:endParaRPr 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0604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 descr="图示&#10;&#10;AI 生成的内容可能不正确。">
            <a:extLst>
              <a:ext uri="{FF2B5EF4-FFF2-40B4-BE49-F238E27FC236}">
                <a16:creationId xmlns:a16="http://schemas.microsoft.com/office/drawing/2014/main" id="{6DF408F8-9699-FECA-0255-0F37A13A373F}"/>
              </a:ext>
            </a:extLst>
          </p:cNvPr>
          <p:cNvPicPr>
            <a:picLocks noGrp="1" noChangeAspect="1"/>
          </p:cNvPicPr>
          <p:nvPr>
            <p:ph sz="quarter" idx="22"/>
          </p:nvPr>
        </p:nvPicPr>
        <p:blipFill>
          <a:blip r:embed="rId3"/>
          <a:stretch>
            <a:fillRect/>
          </a:stretch>
        </p:blipFill>
        <p:spPr>
          <a:xfrm>
            <a:off x="4718071" y="9691"/>
            <a:ext cx="7102454" cy="6327311"/>
          </a:xfr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DEAEE4B-2631-9B23-A201-564FB3CD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de-DE" altLang="zh-CN" dirty="0" err="1"/>
              <a:t>ouzept</a:t>
            </a:r>
            <a:r>
              <a:rPr lang="de-DE" altLang="zh-CN" dirty="0"/>
              <a:t> &amp; Methode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6CF3DC5-1D5C-B871-E516-66FDF9FFC3E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3781CFFF-2DA4-489B-87FF-03436FBBC18D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C89CFF-DB2F-7F11-8454-9E79A695DC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0C987D-FBDF-23A6-5AF6-9A73254D4A0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7</a:t>
            </a:fld>
            <a:endParaRPr lang="de-DE" noProof="1"/>
          </a:p>
        </p:txBody>
      </p:sp>
      <p:sp>
        <p:nvSpPr>
          <p:cNvPr id="14" name="矩形: 圆角 13">
            <a:hlinkClick r:id="rId4" action="ppaction://hlinksldjump"/>
            <a:extLst>
              <a:ext uri="{FF2B5EF4-FFF2-40B4-BE49-F238E27FC236}">
                <a16:creationId xmlns:a16="http://schemas.microsoft.com/office/drawing/2014/main" id="{C3358295-70EC-FD14-2F64-22CF7F3E9272}"/>
              </a:ext>
            </a:extLst>
          </p:cNvPr>
          <p:cNvSpPr/>
          <p:nvPr/>
        </p:nvSpPr>
        <p:spPr bwMode="gray">
          <a:xfrm>
            <a:off x="4871864" y="1052736"/>
            <a:ext cx="3456384" cy="5284266"/>
          </a:xfrm>
          <a:prstGeom prst="roundRect">
            <a:avLst/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A130C2A-D873-2E89-39BD-5461DA866394}"/>
              </a:ext>
            </a:extLst>
          </p:cNvPr>
          <p:cNvSpPr/>
          <p:nvPr/>
        </p:nvSpPr>
        <p:spPr bwMode="gray">
          <a:xfrm>
            <a:off x="7392144" y="188640"/>
            <a:ext cx="4320480" cy="3240360"/>
          </a:xfrm>
          <a:prstGeom prst="roundRect">
            <a:avLst/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CB8445-42DD-11C1-F2CF-2369A805ACF6}"/>
              </a:ext>
            </a:extLst>
          </p:cNvPr>
          <p:cNvSpPr txBox="1"/>
          <p:nvPr/>
        </p:nvSpPr>
        <p:spPr bwMode="gray">
          <a:xfrm>
            <a:off x="551384" y="1772816"/>
            <a:ext cx="4058786" cy="41044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0000" indent="-180000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de-DE" altLang="zh-CN" sz="2800" dirty="0"/>
              <a:t>Der blaue Teil beschreibt die Abbildung von URDF auf AAS.</a:t>
            </a:r>
          </a:p>
          <a:p>
            <a:pPr marL="180000" indent="-180000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de-DE" altLang="zh-CN" sz="2800" dirty="0"/>
              <a:t>Der grüne Teil stellt das Simulationsszenario für Roboter dar und entspricht</a:t>
            </a:r>
            <a:endParaRPr lang="zh-CN" altLang="en-US" sz="2650" dirty="0" err="1"/>
          </a:p>
        </p:txBody>
      </p:sp>
      <p:sp>
        <p:nvSpPr>
          <p:cNvPr id="10" name="Sprechblase: rechteckig 9">
            <a:extLst>
              <a:ext uri="{FF2B5EF4-FFF2-40B4-BE49-F238E27FC236}">
                <a16:creationId xmlns:a16="http://schemas.microsoft.com/office/drawing/2014/main" id="{B567B9A5-A23C-4BEC-B9FB-36AD560C3C8C}"/>
              </a:ext>
            </a:extLst>
          </p:cNvPr>
          <p:cNvSpPr/>
          <p:nvPr/>
        </p:nvSpPr>
        <p:spPr bwMode="gray">
          <a:xfrm>
            <a:off x="8200682" y="4007822"/>
            <a:ext cx="1512168" cy="901067"/>
          </a:xfrm>
          <a:prstGeom prst="wedgeRectCallout">
            <a:avLst>
              <a:gd name="adj1" fmla="val -85081"/>
              <a:gd name="adj2" fmla="val -28410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Undeutlich durch den Kasten darüber</a:t>
            </a:r>
            <a:endParaRPr lang="en-US" sz="1400" b="1" dirty="0">
              <a:solidFill>
                <a:srgbClr val="000000"/>
              </a:solidFill>
            </a:endParaRPr>
          </a:p>
        </p:txBody>
      </p:sp>
      <p:sp>
        <p:nvSpPr>
          <p:cNvPr id="11" name="Sprechblase: rechteckig 10">
            <a:extLst>
              <a:ext uri="{FF2B5EF4-FFF2-40B4-BE49-F238E27FC236}">
                <a16:creationId xmlns:a16="http://schemas.microsoft.com/office/drawing/2014/main" id="{32075FB5-40CD-4AEE-97F2-56BF5F0E79AF}"/>
              </a:ext>
            </a:extLst>
          </p:cNvPr>
          <p:cNvSpPr/>
          <p:nvPr/>
        </p:nvSpPr>
        <p:spPr bwMode="gray">
          <a:xfrm>
            <a:off x="10144898" y="3694301"/>
            <a:ext cx="1512168" cy="901067"/>
          </a:xfrm>
          <a:prstGeom prst="wedgeRectCallout">
            <a:avLst>
              <a:gd name="adj1" fmla="val -77882"/>
              <a:gd name="adj2" fmla="val -222913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Undeutlich durch den Kasten darüber</a:t>
            </a:r>
            <a:endParaRPr lang="en-US" sz="1400" b="1" dirty="0">
              <a:solidFill>
                <a:srgbClr val="000000"/>
              </a:solidFill>
            </a:endParaRPr>
          </a:p>
        </p:txBody>
      </p:sp>
      <p:sp>
        <p:nvSpPr>
          <p:cNvPr id="12" name="Sprechblase: rechteckig 11">
            <a:extLst>
              <a:ext uri="{FF2B5EF4-FFF2-40B4-BE49-F238E27FC236}">
                <a16:creationId xmlns:a16="http://schemas.microsoft.com/office/drawing/2014/main" id="{8AFFE2EF-CA31-4A0C-B23E-03F829C4B1D5}"/>
              </a:ext>
            </a:extLst>
          </p:cNvPr>
          <p:cNvSpPr/>
          <p:nvPr/>
        </p:nvSpPr>
        <p:spPr bwMode="gray">
          <a:xfrm>
            <a:off x="9759186" y="5019866"/>
            <a:ext cx="1593398" cy="940413"/>
          </a:xfrm>
          <a:prstGeom prst="wedgeRectCallout">
            <a:avLst>
              <a:gd name="adj1" fmla="val -48873"/>
              <a:gd name="adj2" fmla="val -101335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Mach die Kästen nur mit Rahmen und ohne Füllung</a:t>
            </a:r>
            <a:endParaRPr 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15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B53FA-09FD-6EE6-919C-42F16E502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B2CFB7-6C9B-627A-C5F8-2C1621D3A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de-DE" altLang="zh-CN" dirty="0" err="1"/>
              <a:t>ouzept</a:t>
            </a:r>
            <a:r>
              <a:rPr lang="de-DE" altLang="zh-CN" dirty="0"/>
              <a:t> &amp; Methode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888FDA-BB97-C1BD-9F8F-2F1AB5EE200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6CC7E413-22EF-4226-855C-3FEC02A40E49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A39E7D6-4A14-1506-67FA-84680AA80CA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201536-7757-315F-6CD0-1583AE1DDF7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8</a:t>
            </a:fld>
            <a:endParaRPr lang="de-DE" noProof="1"/>
          </a:p>
        </p:txBody>
      </p:sp>
      <p:pic>
        <p:nvPicPr>
          <p:cNvPr id="8" name="内容占位符 7" descr="图示&#10;&#10;AI 生成的内容可能不正确。">
            <a:extLst>
              <a:ext uri="{FF2B5EF4-FFF2-40B4-BE49-F238E27FC236}">
                <a16:creationId xmlns:a16="http://schemas.microsoft.com/office/drawing/2014/main" id="{90D5D0BF-E1B4-1193-2266-C7B9B1B97C84}"/>
              </a:ext>
            </a:extLst>
          </p:cNvPr>
          <p:cNvPicPr>
            <a:picLocks noGrp="1" noChangeAspect="1"/>
          </p:cNvPicPr>
          <p:nvPr>
            <p:ph sz="quarter" idx="22"/>
          </p:nvPr>
        </p:nvPicPr>
        <p:blipFill>
          <a:blip r:embed="rId3"/>
          <a:srcRect l="2469" t="22354" r="47222" b="3183"/>
          <a:stretch>
            <a:fillRect/>
          </a:stretch>
        </p:blipFill>
        <p:spPr>
          <a:xfrm>
            <a:off x="5159896" y="0"/>
            <a:ext cx="5112568" cy="6741368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94A67C8-583E-87EA-85A8-7B4A5ED3E7FC}"/>
              </a:ext>
            </a:extLst>
          </p:cNvPr>
          <p:cNvSpPr txBox="1"/>
          <p:nvPr/>
        </p:nvSpPr>
        <p:spPr bwMode="gray">
          <a:xfrm>
            <a:off x="767408" y="1628800"/>
            <a:ext cx="4608512" cy="43204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en-US" altLang="zh-CN" sz="2650" dirty="0" err="1"/>
              <a:t>Submodel</a:t>
            </a:r>
            <a:r>
              <a:rPr lang="zh-CN" altLang="en-US" sz="2650" dirty="0"/>
              <a:t>：</a:t>
            </a:r>
            <a:endParaRPr lang="en-US" altLang="zh-CN" sz="2650" dirty="0"/>
          </a:p>
          <a:p>
            <a:endParaRPr lang="en-US" altLang="zh-CN" sz="1600" b="1" dirty="0"/>
          </a:p>
          <a:p>
            <a:r>
              <a:rPr lang="en-US" altLang="zh-CN" sz="1600" b="1" dirty="0" err="1"/>
              <a:t>Struktur</a:t>
            </a:r>
            <a:r>
              <a:rPr lang="en-US" altLang="zh-CN" sz="1600" b="1" dirty="0"/>
              <a:t> (Structure) </a:t>
            </a:r>
          </a:p>
          <a:p>
            <a:endParaRPr lang="en-US" altLang="zh-CN" sz="1600" b="1" dirty="0"/>
          </a:p>
          <a:p>
            <a:r>
              <a:rPr lang="en-US" altLang="zh-CN" sz="1600" b="1" dirty="0" err="1"/>
              <a:t>Kinematik</a:t>
            </a:r>
            <a:r>
              <a:rPr lang="en-US" altLang="zh-CN" sz="1600" b="1" dirty="0"/>
              <a:t> (Kinematics) </a:t>
            </a:r>
          </a:p>
          <a:p>
            <a:endParaRPr lang="en-US" altLang="zh-CN" sz="1600" b="1" dirty="0"/>
          </a:p>
          <a:p>
            <a:r>
              <a:rPr lang="en-US" altLang="zh-CN" sz="1600" b="1" dirty="0"/>
              <a:t>Dynamik (Dynamics) </a:t>
            </a:r>
          </a:p>
          <a:p>
            <a:endParaRPr lang="en-US" altLang="zh-CN" sz="1600" b="1" dirty="0"/>
          </a:p>
          <a:p>
            <a:r>
              <a:rPr lang="en-US" altLang="zh-CN" sz="1600" b="1" dirty="0" err="1"/>
              <a:t>Steuerung</a:t>
            </a:r>
            <a:r>
              <a:rPr lang="en-US" altLang="zh-CN" sz="1600" b="1" dirty="0"/>
              <a:t> (Control)  </a:t>
            </a:r>
          </a:p>
          <a:p>
            <a:endParaRPr lang="en-US" altLang="zh-CN" sz="1600" b="1" dirty="0"/>
          </a:p>
          <a:p>
            <a:r>
              <a:rPr lang="en-US" altLang="zh-CN" sz="1600" b="1" dirty="0"/>
              <a:t>Sicherheit (Safety) </a:t>
            </a:r>
          </a:p>
          <a:p>
            <a:endParaRPr lang="en-US" altLang="zh-CN" sz="1600" b="1" dirty="0"/>
          </a:p>
          <a:p>
            <a:r>
              <a:rPr lang="en-US" altLang="zh-CN" sz="1600" b="1" dirty="0" err="1"/>
              <a:t>Visualisierung</a:t>
            </a:r>
            <a:r>
              <a:rPr lang="en-US" altLang="zh-CN" sz="1600" b="1" dirty="0"/>
              <a:t> (Visualization)</a:t>
            </a:r>
            <a:endParaRPr lang="en-US" altLang="zh-CN" sz="2650" dirty="0"/>
          </a:p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endParaRPr lang="zh-CN" altLang="en-US" sz="2650" dirty="0" err="1"/>
          </a:p>
        </p:txBody>
      </p:sp>
      <p:sp>
        <p:nvSpPr>
          <p:cNvPr id="9" name="Sprechblase: rechteckig 8">
            <a:extLst>
              <a:ext uri="{FF2B5EF4-FFF2-40B4-BE49-F238E27FC236}">
                <a16:creationId xmlns:a16="http://schemas.microsoft.com/office/drawing/2014/main" id="{A71691E2-ABE1-49E0-A706-B15E072CE0F3}"/>
              </a:ext>
            </a:extLst>
          </p:cNvPr>
          <p:cNvSpPr/>
          <p:nvPr/>
        </p:nvSpPr>
        <p:spPr bwMode="gray">
          <a:xfrm>
            <a:off x="8760296" y="4149080"/>
            <a:ext cx="1512168" cy="901067"/>
          </a:xfrm>
          <a:prstGeom prst="wedgeRectCallout">
            <a:avLst>
              <a:gd name="adj1" fmla="val -50527"/>
              <a:gd name="adj2" fmla="val -96063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Ist das jetzt der blaue Teil?</a:t>
            </a:r>
            <a:endParaRPr 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00087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139BC-EBC5-1018-32DE-E3C953F3E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 descr="图示&#10;&#10;AI 生成的内容可能不正确。">
            <a:extLst>
              <a:ext uri="{FF2B5EF4-FFF2-40B4-BE49-F238E27FC236}">
                <a16:creationId xmlns:a16="http://schemas.microsoft.com/office/drawing/2014/main" id="{26C62C2B-8AFD-1A81-2266-F9E5537A671C}"/>
              </a:ext>
            </a:extLst>
          </p:cNvPr>
          <p:cNvPicPr>
            <a:picLocks noGrp="1" noChangeAspect="1"/>
          </p:cNvPicPr>
          <p:nvPr>
            <p:ph sz="quarter" idx="22"/>
          </p:nvPr>
        </p:nvPicPr>
        <p:blipFill>
          <a:blip r:embed="rId2"/>
          <a:stretch>
            <a:fillRect/>
          </a:stretch>
        </p:blipFill>
        <p:spPr>
          <a:xfrm>
            <a:off x="4718071" y="9691"/>
            <a:ext cx="7102454" cy="6327311"/>
          </a:xfr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179B229-2E84-388D-383B-DD1694CD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de-DE" altLang="zh-CN" dirty="0" err="1"/>
              <a:t>ouzept</a:t>
            </a:r>
            <a:r>
              <a:rPr lang="de-DE" altLang="zh-CN" dirty="0"/>
              <a:t> &amp; Methode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C819C50-C1EF-57E9-BC94-79195C42013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ECF295FF-2998-4B40-96D8-BBE746A4FA8C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0C879E-2CAC-9945-20C0-3F53C08703A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E3E806-FB87-D91E-8F46-37F4F423413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9</a:t>
            </a:fld>
            <a:endParaRPr lang="de-DE" noProof="1"/>
          </a:p>
        </p:txBody>
      </p:sp>
      <p:sp>
        <p:nvSpPr>
          <p:cNvPr id="14" name="矩形: 圆角 13">
            <a:hlinkClick r:id="rId3" action="ppaction://hlinksldjump"/>
            <a:extLst>
              <a:ext uri="{FF2B5EF4-FFF2-40B4-BE49-F238E27FC236}">
                <a16:creationId xmlns:a16="http://schemas.microsoft.com/office/drawing/2014/main" id="{FBB308AF-5964-4884-F586-62DA0E41D2FB}"/>
              </a:ext>
            </a:extLst>
          </p:cNvPr>
          <p:cNvSpPr/>
          <p:nvPr/>
        </p:nvSpPr>
        <p:spPr bwMode="gray">
          <a:xfrm>
            <a:off x="4871864" y="1052736"/>
            <a:ext cx="3456384" cy="5284266"/>
          </a:xfrm>
          <a:prstGeom prst="roundRect">
            <a:avLst/>
          </a:prstGeom>
          <a:solidFill>
            <a:schemeClr val="tx1">
              <a:lumMod val="25000"/>
              <a:lumOff val="75000"/>
              <a:alpha val="44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48D5EF5-E052-D9AB-14BC-D12CF93258D3}"/>
              </a:ext>
            </a:extLst>
          </p:cNvPr>
          <p:cNvSpPr/>
          <p:nvPr/>
        </p:nvSpPr>
        <p:spPr bwMode="gray">
          <a:xfrm>
            <a:off x="7392144" y="188640"/>
            <a:ext cx="4320480" cy="3240360"/>
          </a:xfrm>
          <a:prstGeom prst="roundRect">
            <a:avLst/>
          </a:prstGeom>
          <a:solidFill>
            <a:schemeClr val="accent5">
              <a:lumMod val="60000"/>
              <a:lumOff val="40000"/>
              <a:alpha val="3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169902-40C0-5C4C-83F4-C76CF272FB32}"/>
              </a:ext>
            </a:extLst>
          </p:cNvPr>
          <p:cNvSpPr txBox="1"/>
          <p:nvPr/>
        </p:nvSpPr>
        <p:spPr bwMode="gray">
          <a:xfrm>
            <a:off x="551384" y="1772816"/>
            <a:ext cx="4058786" cy="41044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0000" indent="-180000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de-DE" altLang="zh-CN" sz="2800" dirty="0"/>
              <a:t>Der blaue Teil beschreibt die Abbildung von URDF auf AAS.</a:t>
            </a:r>
          </a:p>
          <a:p>
            <a:pPr marL="180000" indent="-180000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de-DE" altLang="zh-CN" sz="2800" dirty="0"/>
              <a:t>Der grüne Teil stellt das Simulationsszenario für Roboter dar und entspricht</a:t>
            </a:r>
            <a:endParaRPr lang="zh-CN" altLang="en-US" sz="2650" dirty="0" err="1"/>
          </a:p>
        </p:txBody>
      </p:sp>
      <p:sp>
        <p:nvSpPr>
          <p:cNvPr id="10" name="Sprechblase: rechteckig 9">
            <a:extLst>
              <a:ext uri="{FF2B5EF4-FFF2-40B4-BE49-F238E27FC236}">
                <a16:creationId xmlns:a16="http://schemas.microsoft.com/office/drawing/2014/main" id="{BB083AC7-2160-4C6B-94C1-A64E8122FD01}"/>
              </a:ext>
            </a:extLst>
          </p:cNvPr>
          <p:cNvSpPr/>
          <p:nvPr/>
        </p:nvSpPr>
        <p:spPr bwMode="gray">
          <a:xfrm>
            <a:off x="8760296" y="4149080"/>
            <a:ext cx="1512168" cy="901067"/>
          </a:xfrm>
          <a:prstGeom prst="wedgeRectCallout">
            <a:avLst>
              <a:gd name="adj1" fmla="val -50527"/>
              <a:gd name="adj2" fmla="val -96063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Die Folie musst du nicht nochmal zeigen</a:t>
            </a:r>
            <a:endParaRPr 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95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3A6AF-F9D6-4227-705F-4D05B871F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 descr="图示&#10;&#10;AI 生成的内容可能不正确。">
            <a:extLst>
              <a:ext uri="{FF2B5EF4-FFF2-40B4-BE49-F238E27FC236}">
                <a16:creationId xmlns:a16="http://schemas.microsoft.com/office/drawing/2014/main" id="{956CBB11-B763-EE26-6FF3-6A4B2028CA5C}"/>
              </a:ext>
            </a:extLst>
          </p:cNvPr>
          <p:cNvPicPr>
            <a:picLocks noGrp="1" noChangeAspect="1"/>
          </p:cNvPicPr>
          <p:nvPr>
            <p:ph sz="quarter" idx="22"/>
          </p:nvPr>
        </p:nvPicPr>
        <p:blipFill>
          <a:blip r:embed="rId3"/>
          <a:srcRect l="35622" r="3547" b="42545"/>
          <a:stretch>
            <a:fillRect/>
          </a:stretch>
        </p:blipFill>
        <p:spPr>
          <a:xfrm>
            <a:off x="4123909" y="9691"/>
            <a:ext cx="7444700" cy="6264109"/>
          </a:xfr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1FF8760-EB64-FD1D-6719-AC190775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de-DE" altLang="zh-CN" dirty="0" err="1"/>
              <a:t>ouzept</a:t>
            </a:r>
            <a:r>
              <a:rPr lang="de-DE" altLang="zh-CN" dirty="0"/>
              <a:t> &amp; Methode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C79CD9E-74D1-2AD0-0A11-A7DEBBE2B10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1802BDC-BEAD-4257-8591-D61452E34DF1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41AF47-4E93-D539-4804-47F19674032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C07EC3-A0BD-8BBE-AD85-688DBD536BE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10</a:t>
            </a:fld>
            <a:endParaRPr lang="de-DE" noProof="1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C1F9C5-25CF-89A4-6DCF-DC71B48581CF}"/>
              </a:ext>
            </a:extLst>
          </p:cNvPr>
          <p:cNvSpPr txBox="1"/>
          <p:nvPr/>
        </p:nvSpPr>
        <p:spPr bwMode="gray">
          <a:xfrm>
            <a:off x="551384" y="1556792"/>
            <a:ext cx="3320609" cy="47170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altLang="zh-CN" sz="2000" b="1" dirty="0" err="1"/>
              <a:t>multi_ur.xacro</a:t>
            </a:r>
            <a:r>
              <a:rPr lang="en-US" altLang="zh-CN" sz="2000" b="1" dirty="0"/>
              <a:t> – </a:t>
            </a:r>
            <a:r>
              <a:rPr lang="en-US" altLang="zh-CN" sz="2000" b="1" dirty="0" err="1"/>
              <a:t>beschreibt</a:t>
            </a:r>
            <a:r>
              <a:rPr lang="en-US" altLang="zh-CN" sz="2000" b="1" dirty="0"/>
              <a:t> alle </a:t>
            </a:r>
            <a:r>
              <a:rPr lang="en-US" altLang="zh-CN" sz="2000" b="1" dirty="0" err="1"/>
              <a:t>Roboterinstanzen</a:t>
            </a:r>
            <a:r>
              <a:rPr lang="en-US" altLang="zh-CN" sz="2000" b="1" dirty="0"/>
              <a:t> und </a:t>
            </a:r>
            <a:r>
              <a:rPr lang="en-US" altLang="zh-CN" sz="2000" b="1" dirty="0" err="1"/>
              <a:t>deren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räumliche</a:t>
            </a:r>
            <a:r>
              <a:rPr lang="en-US" altLang="zh-CN" sz="2000" b="1" dirty="0"/>
              <a:t> Pose</a:t>
            </a:r>
          </a:p>
          <a:p>
            <a:endParaRPr lang="en-US" altLang="zh-CN" sz="2000" b="1" dirty="0"/>
          </a:p>
          <a:p>
            <a:r>
              <a:rPr lang="en-US" altLang="zh-CN" sz="2000" b="1" dirty="0" err="1"/>
              <a:t>spawn.xacro</a:t>
            </a:r>
            <a:r>
              <a:rPr lang="en-US" altLang="zh-CN" sz="2000" b="1" dirty="0"/>
              <a:t> – </a:t>
            </a:r>
            <a:r>
              <a:rPr lang="en-US" altLang="zh-CN" sz="2000" b="1" dirty="0" err="1"/>
              <a:t>Rahmenbeschreibung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einer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einzelnen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Roboterinstanz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 err="1"/>
              <a:t>joint_limit.yaml</a:t>
            </a:r>
            <a:r>
              <a:rPr lang="en-US" altLang="zh-CN" sz="2000" b="1" dirty="0"/>
              <a:t> – </a:t>
            </a:r>
            <a:r>
              <a:rPr lang="en-US" altLang="zh-CN" sz="2000" b="1" dirty="0" err="1"/>
              <a:t>extrahiert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Sicherheits</a:t>
            </a:r>
            <a:r>
              <a:rPr lang="en-US" altLang="zh-CN" sz="2000" b="1" dirty="0"/>
              <a:t>- und </a:t>
            </a:r>
            <a:r>
              <a:rPr lang="en-US" altLang="zh-CN" sz="2000" b="1" dirty="0" err="1"/>
              <a:t>Steuerungsparameter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aus</a:t>
            </a:r>
            <a:r>
              <a:rPr lang="en-US" altLang="zh-CN" sz="2000" b="1" dirty="0"/>
              <a:t> den AAS-</a:t>
            </a:r>
            <a:r>
              <a:rPr lang="en-US" altLang="zh-CN" sz="2000" b="1" dirty="0" err="1"/>
              <a:t>Daten</a:t>
            </a:r>
            <a:r>
              <a:rPr lang="en-US" altLang="zh-CN" sz="2000" b="1" dirty="0"/>
              <a:t> (z. B. </a:t>
            </a:r>
            <a:r>
              <a:rPr lang="en-US" altLang="zh-CN" sz="2000" b="1" dirty="0" err="1"/>
              <a:t>Geschwindigkeiten</a:t>
            </a:r>
            <a:r>
              <a:rPr lang="en-US" altLang="zh-CN" sz="2000" b="1" dirty="0"/>
              <a:t> und </a:t>
            </a:r>
            <a:r>
              <a:rPr lang="en-US" altLang="zh-CN" sz="2000" b="1" dirty="0" err="1"/>
              <a:t>Gelenkgrenzen</a:t>
            </a:r>
            <a:r>
              <a:rPr lang="en-US" altLang="zh-CN" sz="20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3651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845CB-324A-EBA7-37BD-5B791BABD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 descr="图示&#10;&#10;AI 生成的内容可能不正确。">
            <a:extLst>
              <a:ext uri="{FF2B5EF4-FFF2-40B4-BE49-F238E27FC236}">
                <a16:creationId xmlns:a16="http://schemas.microsoft.com/office/drawing/2014/main" id="{75B9500D-E24A-AEB3-53AB-4BDEEA7800F9}"/>
              </a:ext>
            </a:extLst>
          </p:cNvPr>
          <p:cNvPicPr>
            <a:picLocks noGrp="1" noChangeAspect="1"/>
          </p:cNvPicPr>
          <p:nvPr>
            <p:ph sz="quarter" idx="22"/>
          </p:nvPr>
        </p:nvPicPr>
        <p:blipFill>
          <a:blip r:embed="rId2"/>
          <a:stretch>
            <a:fillRect/>
          </a:stretch>
        </p:blipFill>
        <p:spPr>
          <a:xfrm>
            <a:off x="4718071" y="9691"/>
            <a:ext cx="7102454" cy="6327311"/>
          </a:xfr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14551C2-1349-D145-11B2-B17D681D5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/>
              <a:t>Implementation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CDA5A77-B12B-2545-EBCC-C1CCA1BA459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07C5EC3-5275-438D-B13B-B4479B67058B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AE4AFF1-27AF-0250-388B-6D07636737C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6F7055-5506-64E9-51BC-082B828B6D7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11</a:t>
            </a:fld>
            <a:endParaRPr lang="de-DE" noProof="1"/>
          </a:p>
        </p:txBody>
      </p:sp>
      <p:sp>
        <p:nvSpPr>
          <p:cNvPr id="6" name="矩形: 圆角 5">
            <a:hlinkClick r:id="rId3" action="ppaction://hlinksldjump"/>
            <a:extLst>
              <a:ext uri="{FF2B5EF4-FFF2-40B4-BE49-F238E27FC236}">
                <a16:creationId xmlns:a16="http://schemas.microsoft.com/office/drawing/2014/main" id="{08738A87-67BB-59B3-AB49-7B221FF6F731}"/>
              </a:ext>
            </a:extLst>
          </p:cNvPr>
          <p:cNvSpPr/>
          <p:nvPr/>
        </p:nvSpPr>
        <p:spPr bwMode="gray">
          <a:xfrm>
            <a:off x="5790319" y="3499321"/>
            <a:ext cx="1512168" cy="584200"/>
          </a:xfrm>
          <a:prstGeom prst="round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F957C2A-3AB2-7155-6EAE-554DEE2454BB}"/>
              </a:ext>
            </a:extLst>
          </p:cNvPr>
          <p:cNvSpPr/>
          <p:nvPr/>
        </p:nvSpPr>
        <p:spPr bwMode="gray">
          <a:xfrm>
            <a:off x="7680176" y="692696"/>
            <a:ext cx="1584176" cy="50405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12BF37-4A6C-0C1F-A28D-5329F51D9206}"/>
              </a:ext>
            </a:extLst>
          </p:cNvPr>
          <p:cNvSpPr txBox="1"/>
          <p:nvPr/>
        </p:nvSpPr>
        <p:spPr bwMode="gray">
          <a:xfrm>
            <a:off x="479376" y="1628800"/>
            <a:ext cx="4536504" cy="31683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altLang="zh-CN" b="1" dirty="0" err="1"/>
              <a:t>Submodel</a:t>
            </a:r>
            <a:r>
              <a:rPr lang="en-US" altLang="zh-CN" b="1" dirty="0"/>
              <a:t> Generator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en-US" altLang="zh-CN" dirty="0"/>
              <a:t>generate_aas_submodels_ur.py generate_aas_submodels_igus_rebel.py</a:t>
            </a:r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endParaRPr lang="en-US" altLang="zh-CN" b="1" dirty="0"/>
          </a:p>
          <a:p>
            <a:pPr marL="285750" indent="-285750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altLang="zh-CN" b="1" dirty="0"/>
              <a:t>Multi robot Generator</a:t>
            </a:r>
            <a:r>
              <a:rPr lang="de-DE" altLang="zh-CN" b="1" dirty="0"/>
              <a:t>: </a:t>
            </a:r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en-US" altLang="zh-CN" dirty="0"/>
              <a:t>generate_multi_robot_xacro.py</a:t>
            </a:r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en-US" altLang="zh-CN" dirty="0"/>
              <a:t>joint_limit_generator.py</a:t>
            </a:r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en-US" altLang="zh-CN" dirty="0"/>
              <a:t>spawn_generator.py</a:t>
            </a:r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endParaRPr lang="de-DE" altLang="zh-CN" b="1" dirty="0"/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en-US" altLang="zh-CN" dirty="0"/>
              <a:t> </a:t>
            </a:r>
          </a:p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endParaRPr lang="zh-CN" altLang="en-US" sz="2650" dirty="0" err="1"/>
          </a:p>
        </p:txBody>
      </p:sp>
    </p:spTree>
    <p:extLst>
      <p:ext uri="{BB962C8B-B14F-4D97-AF65-F5344CB8AC3E}">
        <p14:creationId xmlns:p14="http://schemas.microsoft.com/office/powerpoint/2010/main" val="126597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8" descr="图形用户界面&#10;&#10;AI 生成的内容可能不正确。">
            <a:extLst>
              <a:ext uri="{FF2B5EF4-FFF2-40B4-BE49-F238E27FC236}">
                <a16:creationId xmlns:a16="http://schemas.microsoft.com/office/drawing/2014/main" id="{FAC56EA1-9E6B-300B-3F0E-F315FAE503D3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3"/>
          <a:stretch>
            <a:fillRect/>
          </a:stretch>
        </p:blipFill>
        <p:spPr>
          <a:xfrm>
            <a:off x="371475" y="1582139"/>
            <a:ext cx="11449050" cy="4660510"/>
          </a:xfr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60F9C314-242B-61B2-8743-DB9FD5E71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/>
              <a:t>Submodel</a:t>
            </a:r>
            <a:r>
              <a:rPr lang="en-US" altLang="zh-CN" b="1" dirty="0"/>
              <a:t> </a:t>
            </a:r>
            <a:r>
              <a:rPr lang="de-DE" altLang="zh-CN" b="1" dirty="0"/>
              <a:t>Generator - generate_aas_submodels_ur.py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3E86CC-AC7C-A109-D8D2-3D191BAC9BB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9056386-8FFA-4396-A22B-E1539EE8FF60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70788D-5F7D-4E36-8DE4-D109A6806A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6B981B-9391-A0EA-93C4-01F80393865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12</a:t>
            </a:fld>
            <a:endParaRPr lang="de-DE" noProof="1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335D2497-0C09-2A33-8F8A-53D4BC1E74DE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prechblase: rechteckig 7">
            <a:extLst>
              <a:ext uri="{FF2B5EF4-FFF2-40B4-BE49-F238E27FC236}">
                <a16:creationId xmlns:a16="http://schemas.microsoft.com/office/drawing/2014/main" id="{3F129ED2-3E43-4CDE-A762-B1523631526A}"/>
              </a:ext>
            </a:extLst>
          </p:cNvPr>
          <p:cNvSpPr/>
          <p:nvPr/>
        </p:nvSpPr>
        <p:spPr bwMode="gray">
          <a:xfrm>
            <a:off x="2783632" y="4581128"/>
            <a:ext cx="2160240" cy="1440160"/>
          </a:xfrm>
          <a:prstGeom prst="wedgeRectCallout">
            <a:avLst>
              <a:gd name="adj1" fmla="val 70412"/>
              <a:gd name="adj2" fmla="val -114184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Auf was soll ich schauen?</a:t>
            </a:r>
          </a:p>
          <a:p>
            <a:pPr algn="ctr"/>
            <a:r>
              <a:rPr lang="de-DE" sz="1400" b="1" dirty="0">
                <a:solidFill>
                  <a:srgbClr val="000000"/>
                </a:solidFill>
              </a:rPr>
              <a:t>Hier immer einen Blickfang durch einen animierten Kasten einfügen</a:t>
            </a:r>
            <a:endParaRPr 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74844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8" descr="图示&#10;&#10;AI 生成的内容可能不正确。">
            <a:extLst>
              <a:ext uri="{FF2B5EF4-FFF2-40B4-BE49-F238E27FC236}">
                <a16:creationId xmlns:a16="http://schemas.microsoft.com/office/drawing/2014/main" id="{BA242BA8-8C70-4E69-1FA8-AB3EF534DCED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3"/>
          <a:stretch>
            <a:fillRect/>
          </a:stretch>
        </p:blipFill>
        <p:spPr>
          <a:xfrm>
            <a:off x="1433739" y="1571625"/>
            <a:ext cx="9324522" cy="4681538"/>
          </a:xfr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2F223E7B-7378-9F67-ED48-5E2B02875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/>
              <a:t>Submodel</a:t>
            </a:r>
            <a:r>
              <a:rPr lang="en-US" altLang="zh-CN" b="1" dirty="0"/>
              <a:t> </a:t>
            </a:r>
            <a:r>
              <a:rPr lang="de-DE" altLang="zh-CN" b="1" dirty="0"/>
              <a:t>Generator – Igus </a:t>
            </a:r>
            <a:r>
              <a:rPr lang="de-DE" altLang="zh-CN" b="1" dirty="0" err="1"/>
              <a:t>Rebel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E0ACE4-2BF6-F792-843C-67B6B169824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5860554-76CC-497B-93DE-3A1DDD134C43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688715-1C35-33F2-B9BB-BE051AF1B40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1048CF-B12D-6A08-35F7-16BB5D1DF2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13</a:t>
            </a:fld>
            <a:endParaRPr lang="de-DE" noProof="1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C5CCDEC4-4130-219A-44AC-251F452E89BB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prechblase: rechteckig 7">
            <a:extLst>
              <a:ext uri="{FF2B5EF4-FFF2-40B4-BE49-F238E27FC236}">
                <a16:creationId xmlns:a16="http://schemas.microsoft.com/office/drawing/2014/main" id="{B952EE8F-190F-4E80-AC32-17C87F7C9F7F}"/>
              </a:ext>
            </a:extLst>
          </p:cNvPr>
          <p:cNvSpPr/>
          <p:nvPr/>
        </p:nvSpPr>
        <p:spPr bwMode="gray">
          <a:xfrm>
            <a:off x="1703512" y="3459021"/>
            <a:ext cx="2160240" cy="1440160"/>
          </a:xfrm>
          <a:prstGeom prst="wedgeRectCallout">
            <a:avLst>
              <a:gd name="adj1" fmla="val 101655"/>
              <a:gd name="adj2" fmla="val 3732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Auf was soll ich schauen?</a:t>
            </a:r>
          </a:p>
          <a:p>
            <a:pPr algn="ctr"/>
            <a:r>
              <a:rPr lang="de-DE" sz="1400" b="1" dirty="0">
                <a:solidFill>
                  <a:srgbClr val="000000"/>
                </a:solidFill>
              </a:rPr>
              <a:t>Hier immer einen Blickfang durch einen animierten Kasten einfügen</a:t>
            </a:r>
            <a:endParaRPr 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45978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92C93-2B7E-D8AB-844C-047C7FA76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 descr="图示&#10;&#10;AI 生成的内容可能不正确。">
            <a:extLst>
              <a:ext uri="{FF2B5EF4-FFF2-40B4-BE49-F238E27FC236}">
                <a16:creationId xmlns:a16="http://schemas.microsoft.com/office/drawing/2014/main" id="{04FC5217-72CF-6F2C-D091-5E07CC09A4B9}"/>
              </a:ext>
            </a:extLst>
          </p:cNvPr>
          <p:cNvPicPr>
            <a:picLocks noGrp="1" noChangeAspect="1"/>
          </p:cNvPicPr>
          <p:nvPr>
            <p:ph sz="quarter" idx="22"/>
          </p:nvPr>
        </p:nvPicPr>
        <p:blipFill>
          <a:blip r:embed="rId2"/>
          <a:stretch>
            <a:fillRect/>
          </a:stretch>
        </p:blipFill>
        <p:spPr>
          <a:xfrm>
            <a:off x="4718071" y="9691"/>
            <a:ext cx="7102454" cy="6327311"/>
          </a:xfr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536F36B-05B6-0370-9EDF-243C0C8C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/>
              <a:t>Implementation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9E95B3-012A-70CE-8F23-951A6BE5C41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CB1DC66-DA07-4CCB-B9E2-5C74AAEA6599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00D58E-4537-1CA5-FBAC-574366C7975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C4CB9E-B69E-0DE4-076C-470286144CC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14</a:t>
            </a:fld>
            <a:endParaRPr lang="de-DE" noProof="1"/>
          </a:p>
        </p:txBody>
      </p:sp>
      <p:sp>
        <p:nvSpPr>
          <p:cNvPr id="6" name="矩形: 圆角 5">
            <a:hlinkClick r:id="rId3" action="ppaction://hlinksldjump"/>
            <a:extLst>
              <a:ext uri="{FF2B5EF4-FFF2-40B4-BE49-F238E27FC236}">
                <a16:creationId xmlns:a16="http://schemas.microsoft.com/office/drawing/2014/main" id="{7BB0E623-9AD2-64EF-03B3-3C383E10EBEF}"/>
              </a:ext>
            </a:extLst>
          </p:cNvPr>
          <p:cNvSpPr/>
          <p:nvPr/>
        </p:nvSpPr>
        <p:spPr bwMode="gray">
          <a:xfrm>
            <a:off x="5790319" y="3499321"/>
            <a:ext cx="1512168" cy="584200"/>
          </a:xfrm>
          <a:prstGeom prst="round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7" name="矩形: 圆角 6">
            <a:hlinkClick r:id="rId4" action="ppaction://hlinksldjump"/>
            <a:extLst>
              <a:ext uri="{FF2B5EF4-FFF2-40B4-BE49-F238E27FC236}">
                <a16:creationId xmlns:a16="http://schemas.microsoft.com/office/drawing/2014/main" id="{55A1A951-A7B9-8B04-C200-F9B13B942BD3}"/>
              </a:ext>
            </a:extLst>
          </p:cNvPr>
          <p:cNvSpPr/>
          <p:nvPr/>
        </p:nvSpPr>
        <p:spPr bwMode="gray">
          <a:xfrm>
            <a:off x="7680176" y="692696"/>
            <a:ext cx="1584176" cy="50405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60CB48-D267-20A6-610A-447B39ACA7EF}"/>
              </a:ext>
            </a:extLst>
          </p:cNvPr>
          <p:cNvSpPr txBox="1"/>
          <p:nvPr/>
        </p:nvSpPr>
        <p:spPr bwMode="gray">
          <a:xfrm>
            <a:off x="479376" y="1628800"/>
            <a:ext cx="4536504" cy="31683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altLang="zh-CN" b="1" dirty="0" err="1"/>
              <a:t>Submodel</a:t>
            </a:r>
            <a:r>
              <a:rPr lang="en-US" altLang="zh-CN" b="1" dirty="0"/>
              <a:t> Generator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en-US" altLang="zh-CN" dirty="0"/>
              <a:t>generate_aas_submodels_ur.py generate_aas_submodels_igus_rebel.py</a:t>
            </a:r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endParaRPr lang="en-US" altLang="zh-CN" b="1" dirty="0"/>
          </a:p>
          <a:p>
            <a:pPr marL="285750" indent="-285750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altLang="zh-CN" b="1" dirty="0"/>
              <a:t>Multi robot Generator</a:t>
            </a:r>
            <a:r>
              <a:rPr lang="de-DE" altLang="zh-CN" b="1" dirty="0"/>
              <a:t>: </a:t>
            </a:r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en-US" altLang="zh-CN" dirty="0"/>
              <a:t>generate_multi_robot_xacro.py</a:t>
            </a:r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en-US" altLang="zh-CN" dirty="0"/>
              <a:t>joint_limit_generator.py</a:t>
            </a:r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en-US" altLang="zh-CN" dirty="0"/>
              <a:t>spawn_generator.py</a:t>
            </a:r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endParaRPr lang="de-DE" altLang="zh-CN" b="1" dirty="0"/>
          </a:p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r>
              <a:rPr lang="en-US" altLang="zh-CN" dirty="0"/>
              <a:t> </a:t>
            </a:r>
          </a:p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90000"/>
            </a:pPr>
            <a:endParaRPr lang="zh-CN" altLang="en-US" sz="2650" dirty="0" err="1"/>
          </a:p>
        </p:txBody>
      </p:sp>
      <p:sp>
        <p:nvSpPr>
          <p:cNvPr id="10" name="Sprechblase: rechteckig 9">
            <a:extLst>
              <a:ext uri="{FF2B5EF4-FFF2-40B4-BE49-F238E27FC236}">
                <a16:creationId xmlns:a16="http://schemas.microsoft.com/office/drawing/2014/main" id="{2620AC8E-A083-45CE-80D4-C19E9258F906}"/>
              </a:ext>
            </a:extLst>
          </p:cNvPr>
          <p:cNvSpPr/>
          <p:nvPr/>
        </p:nvSpPr>
        <p:spPr bwMode="gray">
          <a:xfrm>
            <a:off x="8760296" y="4149080"/>
            <a:ext cx="1512168" cy="901067"/>
          </a:xfrm>
          <a:prstGeom prst="wedgeRectCallout">
            <a:avLst>
              <a:gd name="adj1" fmla="val -50527"/>
              <a:gd name="adj2" fmla="val -96063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Warum zeigst du das zum 4ten Mal?</a:t>
            </a:r>
            <a:endParaRPr 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808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8" descr="图形用户界面, 图示&#10;&#10;AI 生成的内容可能不正确。">
            <a:extLst>
              <a:ext uri="{FF2B5EF4-FFF2-40B4-BE49-F238E27FC236}">
                <a16:creationId xmlns:a16="http://schemas.microsoft.com/office/drawing/2014/main" id="{D8473192-D116-FC54-0601-B13467573DB2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3"/>
          <a:stretch>
            <a:fillRect/>
          </a:stretch>
        </p:blipFill>
        <p:spPr>
          <a:xfrm>
            <a:off x="1703512" y="1496640"/>
            <a:ext cx="6700690" cy="4681538"/>
          </a:xfr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93CBB9EA-BEA3-9761-B0D0-8924E95E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/>
              <a:t>Multi-Robot Generator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D8375A-D360-C1DC-5168-D7F2EC9D829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E0410A28-37CF-4933-981B-84BD8413B49F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795749-7F58-E7A1-8D0E-47FBBD6D619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3AFD19-7059-DF30-0298-3C898C360E8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15</a:t>
            </a:fld>
            <a:endParaRPr lang="de-DE" noProof="1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E9CF78D3-49E2-7068-C1BA-D61882387A43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prechblase: rechteckig 7">
            <a:extLst>
              <a:ext uri="{FF2B5EF4-FFF2-40B4-BE49-F238E27FC236}">
                <a16:creationId xmlns:a16="http://schemas.microsoft.com/office/drawing/2014/main" id="{D15C02FC-8C36-4A75-A28A-73856442366F}"/>
              </a:ext>
            </a:extLst>
          </p:cNvPr>
          <p:cNvSpPr/>
          <p:nvPr/>
        </p:nvSpPr>
        <p:spPr bwMode="gray">
          <a:xfrm>
            <a:off x="3071664" y="5361360"/>
            <a:ext cx="1512168" cy="901067"/>
          </a:xfrm>
          <a:prstGeom prst="wedgeRectCallout">
            <a:avLst>
              <a:gd name="adj1" fmla="val 93448"/>
              <a:gd name="adj2" fmla="val -179421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Zu klein, nicht lesbar</a:t>
            </a:r>
            <a:endParaRPr lang="en-US" sz="1400" b="1" dirty="0">
              <a:solidFill>
                <a:srgbClr val="000000"/>
              </a:solidFill>
            </a:endParaRPr>
          </a:p>
        </p:txBody>
      </p:sp>
      <p:sp>
        <p:nvSpPr>
          <p:cNvPr id="10" name="Sprechblase: rechteckig 9">
            <a:extLst>
              <a:ext uri="{FF2B5EF4-FFF2-40B4-BE49-F238E27FC236}">
                <a16:creationId xmlns:a16="http://schemas.microsoft.com/office/drawing/2014/main" id="{D7CCDB44-1B65-471D-8678-17236B589001}"/>
              </a:ext>
            </a:extLst>
          </p:cNvPr>
          <p:cNvSpPr/>
          <p:nvPr/>
        </p:nvSpPr>
        <p:spPr bwMode="gray">
          <a:xfrm>
            <a:off x="9300357" y="4725144"/>
            <a:ext cx="1512168" cy="901067"/>
          </a:xfrm>
          <a:prstGeom prst="wedgeRectCallout">
            <a:avLst>
              <a:gd name="adj1" fmla="val -24611"/>
              <a:gd name="adj2" fmla="val -161300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Zu viel freie Fläche</a:t>
            </a:r>
            <a:endParaRPr lang="en-US" sz="1400" b="1" dirty="0">
              <a:solidFill>
                <a:srgbClr val="000000"/>
              </a:solidFill>
            </a:endParaRPr>
          </a:p>
        </p:txBody>
      </p:sp>
      <p:sp>
        <p:nvSpPr>
          <p:cNvPr id="11" name="Sprechblase: rechteckig 10">
            <a:extLst>
              <a:ext uri="{FF2B5EF4-FFF2-40B4-BE49-F238E27FC236}">
                <a16:creationId xmlns:a16="http://schemas.microsoft.com/office/drawing/2014/main" id="{D3CDF87E-D6CE-47D6-A30B-AA2A9C80A855}"/>
              </a:ext>
            </a:extLst>
          </p:cNvPr>
          <p:cNvSpPr/>
          <p:nvPr/>
        </p:nvSpPr>
        <p:spPr bwMode="gray">
          <a:xfrm>
            <a:off x="191344" y="2978466"/>
            <a:ext cx="1512168" cy="901067"/>
          </a:xfrm>
          <a:prstGeom prst="wedgeRectCallout">
            <a:avLst>
              <a:gd name="adj1" fmla="val 86250"/>
              <a:gd name="adj2" fmla="val -132306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Zu viel freie Fläche</a:t>
            </a:r>
            <a:endParaRPr 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3448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内容占位符 18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9E1A802-550F-46C9-6522-9EE2C77913EB}"/>
              </a:ext>
            </a:extLst>
          </p:cNvPr>
          <p:cNvPicPr>
            <a:picLocks noGrp="1" noChangeAspect="1"/>
          </p:cNvPicPr>
          <p:nvPr>
            <p:ph sz="quarter" idx="26"/>
          </p:nvPr>
        </p:nvPicPr>
        <p:blipFill>
          <a:blip r:embed="rId3"/>
          <a:stretch>
            <a:fillRect/>
          </a:stretch>
        </p:blipFill>
        <p:spPr>
          <a:xfrm>
            <a:off x="8532555" y="1568449"/>
            <a:ext cx="2919928" cy="4705349"/>
          </a:xfrm>
        </p:spPr>
      </p:pic>
      <p:pic>
        <p:nvPicPr>
          <p:cNvPr id="17" name="内容占位符 1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23DF0176-0742-0C81-060D-533044F35E44}"/>
              </a:ext>
            </a:extLst>
          </p:cNvPr>
          <p:cNvPicPr>
            <a:picLocks noGrp="1" noChangeAspect="1"/>
          </p:cNvPicPr>
          <p:nvPr>
            <p:ph sz="quarter" idx="25"/>
          </p:nvPr>
        </p:nvPicPr>
        <p:blipFill>
          <a:blip r:embed="rId4"/>
          <a:stretch>
            <a:fillRect/>
          </a:stretch>
        </p:blipFill>
        <p:spPr>
          <a:xfrm>
            <a:off x="4259263" y="1618528"/>
            <a:ext cx="3671887" cy="4613131"/>
          </a:xfrm>
        </p:spPr>
      </p:pic>
      <p:pic>
        <p:nvPicPr>
          <p:cNvPr id="15" name="内容占位符 14" descr="表格&#10;&#10;AI 生成的内容可能不正确。">
            <a:extLst>
              <a:ext uri="{FF2B5EF4-FFF2-40B4-BE49-F238E27FC236}">
                <a16:creationId xmlns:a16="http://schemas.microsoft.com/office/drawing/2014/main" id="{C0B7A3A4-1EEF-A70E-85D7-E23B16926821}"/>
              </a:ext>
            </a:extLst>
          </p:cNvPr>
          <p:cNvPicPr>
            <a:picLocks noGrp="1" noChangeAspect="1"/>
          </p:cNvPicPr>
          <p:nvPr>
            <p:ph sz="quarter" idx="24"/>
          </p:nvPr>
        </p:nvPicPr>
        <p:blipFill>
          <a:blip r:embed="rId5"/>
          <a:stretch>
            <a:fillRect/>
          </a:stretch>
        </p:blipFill>
        <p:spPr>
          <a:xfrm>
            <a:off x="371475" y="2533622"/>
            <a:ext cx="3671888" cy="2757544"/>
          </a:xfr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D89BE883-AFC3-21AF-0D22-55F85564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/>
              <a:t>Ergebnisse - </a:t>
            </a:r>
            <a:r>
              <a:rPr lang="en-US" altLang="zh-CN" dirty="0"/>
              <a:t>AAS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40CF5C7E-1E75-E43F-DC3E-F14A7A54E85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4F8FCFBC-279C-4461-9B68-5B65887B9508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8A31CDDF-E18C-78F8-5632-8547DFAEABD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28FBF6F3-7B65-AB9D-ECC0-652AABD3095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16</a:t>
            </a:fld>
            <a:endParaRPr lang="de-DE" noProof="1"/>
          </a:p>
        </p:txBody>
      </p:sp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06792CE1-95DD-A7E5-C1E6-E9918BABB0EF}"/>
              </a:ext>
            </a:extLst>
          </p:cNvPr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Sprechblase: rechteckig 9">
            <a:extLst>
              <a:ext uri="{FF2B5EF4-FFF2-40B4-BE49-F238E27FC236}">
                <a16:creationId xmlns:a16="http://schemas.microsoft.com/office/drawing/2014/main" id="{C74D43F3-17DC-4017-BCD1-697A69CEAC9C}"/>
              </a:ext>
            </a:extLst>
          </p:cNvPr>
          <p:cNvSpPr/>
          <p:nvPr/>
        </p:nvSpPr>
        <p:spPr bwMode="gray">
          <a:xfrm>
            <a:off x="3071664" y="5361360"/>
            <a:ext cx="1512168" cy="901067"/>
          </a:xfrm>
          <a:prstGeom prst="wedgeRectCallout">
            <a:avLst>
              <a:gd name="adj1" fmla="val 93448"/>
              <a:gd name="adj2" fmla="val -179421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Zu klein, nicht lesbar</a:t>
            </a:r>
            <a:endParaRPr lang="en-US" sz="1400" b="1" dirty="0">
              <a:solidFill>
                <a:srgbClr val="000000"/>
              </a:solidFill>
            </a:endParaRPr>
          </a:p>
        </p:txBody>
      </p:sp>
      <p:sp>
        <p:nvSpPr>
          <p:cNvPr id="11" name="Sprechblase: rechteckig 10">
            <a:extLst>
              <a:ext uri="{FF2B5EF4-FFF2-40B4-BE49-F238E27FC236}">
                <a16:creationId xmlns:a16="http://schemas.microsoft.com/office/drawing/2014/main" id="{9CBEA36D-90E7-4677-9C7F-631DEE7C75FF}"/>
              </a:ext>
            </a:extLst>
          </p:cNvPr>
          <p:cNvSpPr/>
          <p:nvPr/>
        </p:nvSpPr>
        <p:spPr bwMode="gray">
          <a:xfrm>
            <a:off x="6719685" y="5239472"/>
            <a:ext cx="1512168" cy="901067"/>
          </a:xfrm>
          <a:prstGeom prst="wedgeRectCallout">
            <a:avLst>
              <a:gd name="adj1" fmla="val 93448"/>
              <a:gd name="adj2" fmla="val -179421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Zu klein, nicht lesbar</a:t>
            </a:r>
            <a:endParaRPr lang="en-US" sz="1400" b="1" dirty="0">
              <a:solidFill>
                <a:srgbClr val="000000"/>
              </a:solidFill>
            </a:endParaRPr>
          </a:p>
        </p:txBody>
      </p:sp>
      <p:sp>
        <p:nvSpPr>
          <p:cNvPr id="12" name="Sprechblase: rechteckig 11">
            <a:extLst>
              <a:ext uri="{FF2B5EF4-FFF2-40B4-BE49-F238E27FC236}">
                <a16:creationId xmlns:a16="http://schemas.microsoft.com/office/drawing/2014/main" id="{6E109257-0D63-4301-ADD8-9BF3F31F5CA6}"/>
              </a:ext>
            </a:extLst>
          </p:cNvPr>
          <p:cNvSpPr/>
          <p:nvPr/>
        </p:nvSpPr>
        <p:spPr bwMode="gray">
          <a:xfrm>
            <a:off x="947428" y="1563969"/>
            <a:ext cx="1512168" cy="901067"/>
          </a:xfrm>
          <a:prstGeom prst="wedgeRectCallout">
            <a:avLst>
              <a:gd name="adj1" fmla="val 4903"/>
              <a:gd name="adj2" fmla="val 196295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Zu klein, nicht lesbar</a:t>
            </a:r>
            <a:endParaRPr lang="en-US" sz="1400" b="1" dirty="0">
              <a:solidFill>
                <a:srgbClr val="000000"/>
              </a:solidFill>
            </a:endParaRPr>
          </a:p>
        </p:txBody>
      </p:sp>
      <p:sp>
        <p:nvSpPr>
          <p:cNvPr id="14" name="Sprechblase: rechteckig 13">
            <a:extLst>
              <a:ext uri="{FF2B5EF4-FFF2-40B4-BE49-F238E27FC236}">
                <a16:creationId xmlns:a16="http://schemas.microsoft.com/office/drawing/2014/main" id="{AA65503A-88E3-4677-90AF-8815B9395959}"/>
              </a:ext>
            </a:extLst>
          </p:cNvPr>
          <p:cNvSpPr/>
          <p:nvPr/>
        </p:nvSpPr>
        <p:spPr bwMode="gray">
          <a:xfrm>
            <a:off x="5339122" y="692467"/>
            <a:ext cx="2197038" cy="1584405"/>
          </a:xfrm>
          <a:prstGeom prst="wedgeRectCallout">
            <a:avLst>
              <a:gd name="adj1" fmla="val 21604"/>
              <a:gd name="adj2" fmla="val -49568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Zeig lieber nur diskrete Ausschnitte, falls es um Details geht</a:t>
            </a:r>
            <a:endParaRPr 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67401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8" descr="电脑萤幕的截图&#10;&#10;AI 生成的内容可能不正确。">
            <a:extLst>
              <a:ext uri="{FF2B5EF4-FFF2-40B4-BE49-F238E27FC236}">
                <a16:creationId xmlns:a16="http://schemas.microsoft.com/office/drawing/2014/main" id="{E5593098-818D-705C-147B-83FA04CA02E4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3"/>
          <a:stretch>
            <a:fillRect/>
          </a:stretch>
        </p:blipFill>
        <p:spPr>
          <a:xfrm>
            <a:off x="1523069" y="1571625"/>
            <a:ext cx="9145861" cy="4681538"/>
          </a:xfr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D1A39399-4C03-ACC7-A3F1-2021C7A73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/>
              <a:t>Ergebnisse - </a:t>
            </a:r>
            <a:r>
              <a:rPr lang="en-US" altLang="zh-CN" dirty="0" err="1"/>
              <a:t>Simulationsszenario</a:t>
            </a:r>
            <a:r>
              <a:rPr lang="en-US" altLang="zh-CN" dirty="0"/>
              <a:t> für </a:t>
            </a:r>
            <a:r>
              <a:rPr lang="en-US" altLang="zh-CN" dirty="0" err="1"/>
              <a:t>Roboter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0D45E4-C388-8941-69E5-7C5AA7B76EB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3038685D-EB4C-46A6-ABBE-79E7DE44716F}" type="datetime1">
              <a:rPr lang="de-DE" altLang="zh-CN" noProof="1" smtClean="0"/>
              <a:t>08.12.2025</a:t>
            </a:fld>
            <a:endParaRPr lang="de-DE" noProof="1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245783-1E73-9DA5-A707-95BB218C9BE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noProof="1"/>
              <a:t>Karlsruher Institut für Technologie (KIT)   Institut für Regelungs- und Automatisierungssysteme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178408-8C9B-D0AB-6E81-5D7BDCCFA1B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17</a:t>
            </a:fld>
            <a:endParaRPr lang="de-DE" noProof="1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6F7BD4F8-2649-9537-62FE-8573CE189C8E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prechblase: rechteckig 7">
            <a:extLst>
              <a:ext uri="{FF2B5EF4-FFF2-40B4-BE49-F238E27FC236}">
                <a16:creationId xmlns:a16="http://schemas.microsoft.com/office/drawing/2014/main" id="{F27B327F-D4E6-4DA0-809F-088B2AF7CE5E}"/>
              </a:ext>
            </a:extLst>
          </p:cNvPr>
          <p:cNvSpPr/>
          <p:nvPr/>
        </p:nvSpPr>
        <p:spPr bwMode="gray">
          <a:xfrm>
            <a:off x="3071664" y="5361360"/>
            <a:ext cx="1512168" cy="901067"/>
          </a:xfrm>
          <a:prstGeom prst="wedgeRectCallout">
            <a:avLst>
              <a:gd name="adj1" fmla="val -19572"/>
              <a:gd name="adj2" fmla="val -189086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Warum ist der so weit weg?</a:t>
            </a:r>
            <a:endParaRPr 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7327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E2266-D903-4076-70D1-F5031D1C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 err="1"/>
              <a:t>Zusamenfassung</a:t>
            </a:r>
            <a:r>
              <a:rPr lang="de-DE" altLang="zh-CN" dirty="0"/>
              <a:t> </a:t>
            </a:r>
            <a:r>
              <a:rPr lang="en-US" altLang="zh-CN" dirty="0"/>
              <a:t>und </a:t>
            </a:r>
            <a:r>
              <a:rPr lang="en-US" altLang="zh-CN" dirty="0" err="1"/>
              <a:t>Ausblick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751FE9-D8C3-8BC5-0FAE-9918E032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8DAF6-1AEB-4A8E-92DD-06540857015C}" type="datetime1">
              <a:rPr lang="de-DE" altLang="zh-CN" smtClean="0"/>
              <a:t>08.12.2025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39C7DD-5A2B-7E57-412E-459CA620A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7528" y="6273800"/>
            <a:ext cx="8892281" cy="584200"/>
          </a:xfrm>
        </p:spPr>
        <p:txBody>
          <a:bodyPr/>
          <a:lstStyle/>
          <a:p>
            <a:r>
              <a:rPr lang="de-DE" altLang="zh-CN"/>
              <a:t>Karlsruher Institut für Technologie (KIT)   Institut für Regelungs- und Automatisierungssysteme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76611-F1A5-943C-4C21-518A66EC5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066F3-C2F1-4F4D-B214-666A8E8CFFD9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268C708-25CF-FE24-519E-409036ED5A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71475" y="2066365"/>
            <a:ext cx="975697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Systematisches URDF → AAS Mapping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und Implementierung von 6 wiederverwendbaren AAS-Submodellen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Vollautomatisierte Python-Toolchain entwickelt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Automatischer Multi-Robot</a:t>
            </a:r>
            <a:r>
              <a:rPr lang="zh-CN" altLang="zh-CN" sz="1800" b="1" dirty="0">
                <a:latin typeface="Arial" panose="020B0604020202020204" pitchFamily="34" charset="0"/>
              </a:rPr>
              <a:t>Validierung: hohe Allgemeingültigkeit, Skalierbarkeit und Stabilität</a:t>
            </a:r>
            <a:endParaRPr lang="zh-CN" altLang="zh-CN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1800" b="1" dirty="0">
                <a:latin typeface="Arial" panose="020B0604020202020204" pitchFamily="34" charset="0"/>
              </a:rPr>
              <a:t>Komplette Digital-Twin-Infrastruktur „URCell“ aufgebaut und Open-Source veröffentlicht</a:t>
            </a:r>
            <a:endParaRPr lang="zh-CN" altLang="zh-CN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-Instanziierungsmechanismus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图片 9" descr="图示&#10;&#10;AI 生成的内容可能不正确。">
            <a:extLst>
              <a:ext uri="{FF2B5EF4-FFF2-40B4-BE49-F238E27FC236}">
                <a16:creationId xmlns:a16="http://schemas.microsoft.com/office/drawing/2014/main" id="{86B99003-2213-3189-75B9-BFA4173EC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36" y="4331069"/>
            <a:ext cx="9239250" cy="1733550"/>
          </a:xfrm>
          <a:prstGeom prst="rect">
            <a:avLst/>
          </a:prstGeom>
        </p:spPr>
      </p:pic>
      <p:sp>
        <p:nvSpPr>
          <p:cNvPr id="9" name="Sprechblase: rechteckig 8">
            <a:extLst>
              <a:ext uri="{FF2B5EF4-FFF2-40B4-BE49-F238E27FC236}">
                <a16:creationId xmlns:a16="http://schemas.microsoft.com/office/drawing/2014/main" id="{9AD675CB-66A4-42D0-BBF2-B06233432944}"/>
              </a:ext>
            </a:extLst>
          </p:cNvPr>
          <p:cNvSpPr/>
          <p:nvPr/>
        </p:nvSpPr>
        <p:spPr bwMode="gray">
          <a:xfrm>
            <a:off x="9869586" y="2879175"/>
            <a:ext cx="1512168" cy="901067"/>
          </a:xfrm>
          <a:prstGeom prst="wedgeRectCallout">
            <a:avLst>
              <a:gd name="adj1" fmla="val -177225"/>
              <a:gd name="adj2" fmla="val -41699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Achte auf die gleiche Schriftgröße</a:t>
            </a:r>
            <a:endParaRPr lang="en-US" sz="1400" b="1" dirty="0">
              <a:solidFill>
                <a:srgbClr val="000000"/>
              </a:solidFill>
            </a:endParaRPr>
          </a:p>
        </p:txBody>
      </p:sp>
      <p:sp>
        <p:nvSpPr>
          <p:cNvPr id="11" name="Sprechblase: rechteckig 10">
            <a:extLst>
              <a:ext uri="{FF2B5EF4-FFF2-40B4-BE49-F238E27FC236}">
                <a16:creationId xmlns:a16="http://schemas.microsoft.com/office/drawing/2014/main" id="{52230634-D721-49EC-AC5B-4A3E24E229F8}"/>
              </a:ext>
            </a:extLst>
          </p:cNvPr>
          <p:cNvSpPr/>
          <p:nvPr/>
        </p:nvSpPr>
        <p:spPr bwMode="gray">
          <a:xfrm>
            <a:off x="9983724" y="3989423"/>
            <a:ext cx="1944923" cy="901067"/>
          </a:xfrm>
          <a:prstGeom prst="wedgeRectCallout">
            <a:avLst>
              <a:gd name="adj1" fmla="val -177225"/>
              <a:gd name="adj2" fmla="val -41699"/>
            </a:avLst>
          </a:prstGeom>
          <a:solidFill>
            <a:schemeClr val="tx2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rgbClr val="000000"/>
                </a:solidFill>
              </a:rPr>
              <a:t>Hier fehlt noch die Einbeziehung der Umgebung, z.B. via SDF in </a:t>
            </a:r>
            <a:r>
              <a:rPr lang="de-DE" sz="1400" b="1" dirty="0" err="1">
                <a:solidFill>
                  <a:srgbClr val="000000"/>
                </a:solidFill>
              </a:rPr>
              <a:t>Gazebo</a:t>
            </a:r>
            <a:endParaRPr 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814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6CEFE3-1248-9518-D013-7A66BB2573F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858000"/>
            <a:ext cx="0" cy="0"/>
          </a:xfrm>
        </p:spPr>
        <p:txBody>
          <a:bodyPr>
            <a:normAutofit fontScale="25000" lnSpcReduction="20000"/>
          </a:bodyPr>
          <a:lstStyle/>
          <a:p>
            <a:fld id="{776FC98F-84AD-404B-BCCB-49E092AA6DE0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DFADDFF3-4582-DB6F-B5D0-5F3571CC501D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858000"/>
            <a:ext cx="0" cy="0"/>
          </a:xfrm>
        </p:spPr>
        <p:txBody>
          <a:bodyPr>
            <a:normAutofit fontScale="25000" lnSpcReduction="20000"/>
          </a:bodyPr>
          <a:lstStyle/>
          <a:p>
            <a:fld id="{D7B8B1BA-29B4-47A2-BF63-1802C41BA1DC}" type="datetime1">
              <a:rPr lang="de-DE" altLang="zh-CN" smtClean="0"/>
              <a:t>08.12.2025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7050647F-FD5B-37DA-7EAA-610C8462135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858000"/>
            <a:ext cx="0" cy="0"/>
          </a:xfrm>
        </p:spPr>
        <p:txBody>
          <a:bodyPr>
            <a:normAutofit fontScale="25000" lnSpcReduction="20000"/>
          </a:bodyPr>
          <a:lstStyle/>
          <a:p>
            <a:r>
              <a:rPr lang="de-DE"/>
              <a:t>Karlsruher Institut für Technologie (KIT)   Institut für Regelungs- und Automatisierungssysteme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018063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KIT">
  <a:themeElements>
    <a:clrScheme name="KIT">
      <a:dk1>
        <a:srgbClr val="002D4C"/>
      </a:dk1>
      <a:lt1>
        <a:srgbClr val="FFFFFF"/>
      </a:lt1>
      <a:dk2>
        <a:srgbClr val="DAE1E6"/>
      </a:dk2>
      <a:lt2>
        <a:srgbClr val="A8B9C4"/>
      </a:lt2>
      <a:accent1>
        <a:srgbClr val="009682"/>
      </a:accent1>
      <a:accent2>
        <a:srgbClr val="005A50"/>
      </a:accent2>
      <a:accent3>
        <a:srgbClr val="23A1E0"/>
      </a:accent3>
      <a:accent4>
        <a:srgbClr val="0C537E"/>
      </a:accent4>
      <a:accent5>
        <a:srgbClr val="8CB63C"/>
      </a:accent5>
      <a:accent6>
        <a:srgbClr val="276738"/>
      </a:accent6>
      <a:hlink>
        <a:srgbClr val="009682"/>
      </a:hlink>
      <a:folHlink>
        <a:srgbClr val="002D4C"/>
      </a:folHlink>
    </a:clrScheme>
    <a:fontScheme name="KIT">
      <a:majorFont>
        <a:latin typeface="Franklin Gothic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3175">
          <a:solidFill>
            <a:schemeClr val="accent1"/>
          </a:solidFill>
        </a:ln>
      </a:spPr>
      <a:bodyPr wrap="square" lIns="144000" tIns="144000" rIns="144000" bIns="144000" rtlCol="0" anchor="ctr"/>
      <a:lstStyle>
        <a:defPPr algn="ctr">
          <a:defRPr sz="14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 defTabSz="914347">
          <a:lnSpc>
            <a:spcPct val="110000"/>
          </a:lnSpc>
          <a:spcBef>
            <a:spcPts val="300"/>
          </a:spcBef>
          <a:spcAft>
            <a:spcPts val="300"/>
          </a:spcAft>
          <a:buClr>
            <a:schemeClr val="tx1"/>
          </a:buClr>
          <a:buSzPct val="90000"/>
          <a:buFont typeface="Wingdings" panose="05000000000000000000" pitchFamily="2" charset="2"/>
          <a:buChar char="§"/>
          <a:defRPr sz="2650" dirty="0" err="1"/>
        </a:defPPr>
      </a:lstStyle>
    </a:txDef>
  </a:objectDefaults>
  <a:extraClrSchemeLst/>
  <a:custClrLst>
    <a:custClr name="Schwarz">
      <a:srgbClr val="000000"/>
    </a:custClr>
    <a:custClr name="Pink">
      <a:srgbClr val="A3107C"/>
    </a:custClr>
    <a:custClr name="Orange">
      <a:srgbClr val="DF9B1B"/>
    </a:custClr>
    <a:custClr name="Gelb">
      <a:srgbClr val="FCE500"/>
    </a:custClr>
    <a:custClr name="Rot">
      <a:srgbClr val="D30015"/>
    </a:custClr>
    <a:custClr name="Braun">
      <a:srgbClr val="A7822E"/>
    </a:custClr>
  </a:custClrLst>
  <a:extLst>
    <a:ext uri="{05A4C25C-085E-4340-85A3-A5531E510DB2}">
      <thm15:themeFamily xmlns:thm15="http://schemas.microsoft.com/office/thememl/2012/main" name="Presentation2" id="{78E197BC-725D-413B-9C4E-1AC4DCBF1FDF}" vid="{641C3495-5682-49A9-84A0-42A60D401749}"/>
    </a:ext>
  </a:extLst>
</a:theme>
</file>

<file path=ppt/theme/theme2.xml><?xml version="1.0" encoding="utf-8"?>
<a:theme xmlns:a="http://schemas.openxmlformats.org/drawingml/2006/main" name="Office">
  <a:themeElements>
    <a:clrScheme name="KIT">
      <a:dk1>
        <a:srgbClr val="002D4C"/>
      </a:dk1>
      <a:lt1>
        <a:srgbClr val="FFFFFF"/>
      </a:lt1>
      <a:dk2>
        <a:srgbClr val="DAE1E6"/>
      </a:dk2>
      <a:lt2>
        <a:srgbClr val="A8B9C4"/>
      </a:lt2>
      <a:accent1>
        <a:srgbClr val="009682"/>
      </a:accent1>
      <a:accent2>
        <a:srgbClr val="005A50"/>
      </a:accent2>
      <a:accent3>
        <a:srgbClr val="23A1E0"/>
      </a:accent3>
      <a:accent4>
        <a:srgbClr val="0C537E"/>
      </a:accent4>
      <a:accent5>
        <a:srgbClr val="8CB63C"/>
      </a:accent5>
      <a:accent6>
        <a:srgbClr val="276738"/>
      </a:accent6>
      <a:hlink>
        <a:srgbClr val="009682"/>
      </a:hlink>
      <a:folHlink>
        <a:srgbClr val="002D4C"/>
      </a:folHlink>
    </a:clrScheme>
    <a:fontScheme name="KIT">
      <a:majorFont>
        <a:latin typeface="Franklin Gothic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3175">
          <a:solidFill>
            <a:schemeClr val="accent1"/>
          </a:solidFill>
        </a:ln>
      </a:spPr>
      <a:bodyPr wrap="square" lIns="144000" tIns="144000" rIns="144000" bIns="144000" rtlCol="0" anchor="ctr"/>
      <a:lstStyle>
        <a:defPPr algn="ctr">
          <a:defRPr sz="12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1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Font typeface="Wingdings" panose="05000000000000000000" pitchFamily="2" charset="2"/>
          <a:buChar char="§"/>
          <a:defRPr sz="1200" dirty="0" err="1" smtClean="0">
            <a:solidFill>
              <a:srgbClr val="000000"/>
            </a:solidFill>
          </a:defRPr>
        </a:defPPr>
      </a:lstStyle>
    </a:txDef>
  </a:objectDefaults>
  <a:extraClrSchemeLst/>
  <a:custClrLst>
    <a:custClr name="Schwarz">
      <a:srgbClr val="000000"/>
    </a:custClr>
    <a:custClr name="Pink">
      <a:srgbClr val="A3107C"/>
    </a:custClr>
    <a:custClr name="Orange">
      <a:srgbClr val="DF9B1B"/>
    </a:custClr>
    <a:custClr name="Gelb">
      <a:srgbClr val="FCE500"/>
    </a:custClr>
    <a:custClr name="Rot">
      <a:srgbClr val="D30015"/>
    </a:custClr>
    <a:custClr name="Braun">
      <a:srgbClr val="A7822E"/>
    </a:custClr>
  </a:custClr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KIT">
      <a:dk1>
        <a:srgbClr val="002D4C"/>
      </a:dk1>
      <a:lt1>
        <a:srgbClr val="FFFFFF"/>
      </a:lt1>
      <a:dk2>
        <a:srgbClr val="DAE1E6"/>
      </a:dk2>
      <a:lt2>
        <a:srgbClr val="A8B9C4"/>
      </a:lt2>
      <a:accent1>
        <a:srgbClr val="009682"/>
      </a:accent1>
      <a:accent2>
        <a:srgbClr val="005A50"/>
      </a:accent2>
      <a:accent3>
        <a:srgbClr val="23A1E0"/>
      </a:accent3>
      <a:accent4>
        <a:srgbClr val="0C537E"/>
      </a:accent4>
      <a:accent5>
        <a:srgbClr val="8CB63C"/>
      </a:accent5>
      <a:accent6>
        <a:srgbClr val="276738"/>
      </a:accent6>
      <a:hlink>
        <a:srgbClr val="009682"/>
      </a:hlink>
      <a:folHlink>
        <a:srgbClr val="002D4C"/>
      </a:folHlink>
    </a:clrScheme>
    <a:fontScheme name="KIT">
      <a:majorFont>
        <a:latin typeface="Franklin Gothic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3175">
          <a:solidFill>
            <a:schemeClr val="accent1"/>
          </a:solidFill>
        </a:ln>
      </a:spPr>
      <a:bodyPr wrap="square" lIns="144000" tIns="144000" rIns="144000" bIns="144000" rtlCol="0" anchor="ctr"/>
      <a:lstStyle>
        <a:defPPr algn="ctr"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1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Font typeface="Wingdings" panose="05000000000000000000" pitchFamily="2" charset="2"/>
          <a:buChar char="§"/>
          <a:defRPr sz="1200" dirty="0" err="1" smtClean="0">
            <a:solidFill>
              <a:srgbClr val="000000"/>
            </a:solidFill>
          </a:defRPr>
        </a:defPPr>
      </a:lstStyle>
    </a:txDef>
  </a:objectDefaults>
  <a:extraClrSchemeLst/>
  <a:custClrLst>
    <a:custClr name="Schwarz">
      <a:srgbClr val="000000"/>
    </a:custClr>
    <a:custClr name="Pink">
      <a:srgbClr val="A3107C"/>
    </a:custClr>
    <a:custClr name="Orange">
      <a:srgbClr val="DF9B1B"/>
    </a:custClr>
    <a:custClr name="Gelb">
      <a:srgbClr val="FCE500"/>
    </a:custClr>
    <a:custClr name="Rot">
      <a:srgbClr val="D30015"/>
    </a:custClr>
    <a:custClr name="Braun">
      <a:srgbClr val="A7822E"/>
    </a:custClr>
  </a:custClr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972acd2-c264-468d-b3e6-d7ba5b444aec">
      <Terms xmlns="http://schemas.microsoft.com/office/infopath/2007/PartnerControls"/>
    </lcf76f155ced4ddcb4097134ff3c332f>
    <TaxCatchAll xmlns="bcc7c5bf-3453-4598-b738-6c39278c6e9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1A4C46552A674B9C2DE62717EEAD13" ma:contentTypeVersion="13" ma:contentTypeDescription="Create a new document." ma:contentTypeScope="" ma:versionID="791bc62e57627754c940568b53e07116">
  <xsd:schema xmlns:xsd="http://www.w3.org/2001/XMLSchema" xmlns:xs="http://www.w3.org/2001/XMLSchema" xmlns:p="http://schemas.microsoft.com/office/2006/metadata/properties" xmlns:ns2="d972acd2-c264-468d-b3e6-d7ba5b444aec" xmlns:ns3="bcc7c5bf-3453-4598-b738-6c39278c6e9b" targetNamespace="http://schemas.microsoft.com/office/2006/metadata/properties" ma:root="true" ma:fieldsID="f7c9fb4ff7881512ad59136c8573ba6d" ns2:_="" ns3:_="">
    <xsd:import namespace="d972acd2-c264-468d-b3e6-d7ba5b444aec"/>
    <xsd:import namespace="bcc7c5bf-3453-4598-b738-6c39278c6e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72acd2-c264-468d-b3e6-d7ba5b444a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c6641f5-0da7-4f48-9a81-ef320f6056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c7c5bf-3453-4598-b738-6c39278c6e9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7ccdc62-0572-43cd-987c-5f242558fbb2}" ma:internalName="TaxCatchAll" ma:showField="CatchAllData" ma:web="bcc7c5bf-3453-4598-b738-6c39278c6e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159617-DEC9-404F-99CE-1D26659791CE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bcc7c5bf-3453-4598-b738-6c39278c6e9b"/>
    <ds:schemaRef ds:uri="d972acd2-c264-468d-b3e6-d7ba5b444aec"/>
  </ds:schemaRefs>
</ds:datastoreItem>
</file>

<file path=customXml/itemProps2.xml><?xml version="1.0" encoding="utf-8"?>
<ds:datastoreItem xmlns:ds="http://schemas.openxmlformats.org/officeDocument/2006/customXml" ds:itemID="{FAE11755-489B-478B-B009-2B49BF69AF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72acd2-c264-468d-b3e6-d7ba5b444aec"/>
    <ds:schemaRef ds:uri="bcc7c5bf-3453-4598-b738-6c39278c6e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E359DD4-3818-4294-9945-2CC7AB3D12A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IRS_PPT Template EN 2025</Template>
  <TotalTime>0</TotalTime>
  <Words>2991</Words>
  <Application>Microsoft Office PowerPoint</Application>
  <PresentationFormat>宽屏</PresentationFormat>
  <Paragraphs>310</Paragraphs>
  <Slides>19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Arial</vt:lpstr>
      <vt:lpstr>Calibri</vt:lpstr>
      <vt:lpstr>Franklin Gothic Medium</vt:lpstr>
      <vt:lpstr>Symbol</vt:lpstr>
      <vt:lpstr>Times New Roman</vt:lpstr>
      <vt:lpstr>Wingdings</vt:lpstr>
      <vt:lpstr>KIT</vt:lpstr>
      <vt:lpstr>Design und Implementierung einer Digital-Twin-Infrastruktur für die industrielle Produktion</vt:lpstr>
      <vt:lpstr>Motivation- Problemstellung</vt:lpstr>
      <vt:lpstr>Motivation- Ist-Zustand-Beschreibung</vt:lpstr>
      <vt:lpstr>Motivation- Ziel</vt:lpstr>
      <vt:lpstr>Ansatz – 1. Vorstudien / Grundlage </vt:lpstr>
      <vt:lpstr>Ansatz - 2. Abgrenzung </vt:lpstr>
      <vt:lpstr>Couzept &amp; Methode</vt:lpstr>
      <vt:lpstr>Couzept &amp; Methode</vt:lpstr>
      <vt:lpstr>Couzept &amp; Methode</vt:lpstr>
      <vt:lpstr>Couzept &amp; Methode</vt:lpstr>
      <vt:lpstr>Implementation</vt:lpstr>
      <vt:lpstr>Submodel Generator - generate_aas_submodels_ur.py</vt:lpstr>
      <vt:lpstr>Submodel Generator – Igus Rebel</vt:lpstr>
      <vt:lpstr>Implementation</vt:lpstr>
      <vt:lpstr>Multi-Robot Generator</vt:lpstr>
      <vt:lpstr>Ergebnisse - AAS</vt:lpstr>
      <vt:lpstr>Ergebnisse - Simulationsszenario für Roboter</vt:lpstr>
      <vt:lpstr>Zusamenfassung und Ausblick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Rösler, Jan Eike (IRS)</dc:creator>
  <cp:lastModifiedBy>He, Ben</cp:lastModifiedBy>
  <cp:revision>37</cp:revision>
  <dcterms:created xsi:type="dcterms:W3CDTF">2025-09-26T07:06:06Z</dcterms:created>
  <dcterms:modified xsi:type="dcterms:W3CDTF">2025-12-09T03:41:08Z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0x010100D01A4C46552A674B9C2DE62717EEAD13</vt:lpwstr>
  </property>
  <property fmtid="{D5CDD505-2E9C-101B-9397-08002B2CF9AE}" pid="3" name="MediaServiceImageTags">
    <vt:lpwstr/>
  </property>
</Properties>
</file>